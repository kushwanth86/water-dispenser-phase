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mo Bold" charset="1" panose="020B0704020202020204"/>
      <p:regular r:id="rId19"/>
    </p:embeddedFont>
    <p:embeddedFont>
      <p:font typeface="Barlow" charset="1" panose="00000500000000000000"/>
      <p:regular r:id="rId20"/>
    </p:embeddedFont>
    <p:embeddedFont>
      <p:font typeface="Barlow Bold" charset="1" panose="00000800000000000000"/>
      <p:regular r:id="rId21"/>
    </p:embeddedFont>
    <p:embeddedFont>
      <p:font typeface="Arimo" charset="1" panose="020B0604020202020204"/>
      <p:regular r:id="rId27"/>
    </p:embeddedFont>
    <p:embeddedFont>
      <p:font typeface="Barlow Italics" charset="1" panose="000005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fonts/font27.fntdata" Type="http://schemas.openxmlformats.org/officeDocument/2006/relationships/font"/><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16.png" Type="http://schemas.openxmlformats.org/officeDocument/2006/relationships/image"/><Relationship Id="rId2" Target="../notesSlides/notesSlide5.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11" Target="../media/image23.png" Type="http://schemas.openxmlformats.org/officeDocument/2006/relationships/image"/><Relationship Id="rId12" Target="../media/image24.svg" Type="http://schemas.openxmlformats.org/officeDocument/2006/relationships/image"/><Relationship Id="rId13" Target="../media/image25.png" Type="http://schemas.openxmlformats.org/officeDocument/2006/relationships/image"/><Relationship Id="rId14" Target="../media/image26.svg" Type="http://schemas.openxmlformats.org/officeDocument/2006/relationships/image"/><Relationship Id="rId15" Target="../media/image27.png" Type="http://schemas.openxmlformats.org/officeDocument/2006/relationships/image"/><Relationship Id="rId16" Target="../media/image28.svg" Type="http://schemas.openxmlformats.org/officeDocument/2006/relationships/image"/><Relationship Id="rId17" Target="../media/image29.png" Type="http://schemas.openxmlformats.org/officeDocument/2006/relationships/image"/><Relationship Id="rId2" Target="../notesSlides/notesSlide8.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 Id="rId5" Target="../media/image3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png" Type="http://schemas.openxmlformats.org/officeDocument/2006/relationships/image"/><Relationship Id="rId4" Target="../media/image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451048" y="0"/>
            <a:ext cx="19190095" cy="10287000"/>
            <a:chOff x="0" y="0"/>
            <a:chExt cx="24597437" cy="13185648"/>
          </a:xfrm>
        </p:grpSpPr>
        <p:sp>
          <p:nvSpPr>
            <p:cNvPr name="Freeform 3" id="3"/>
            <p:cNvSpPr/>
            <p:nvPr/>
          </p:nvSpPr>
          <p:spPr>
            <a:xfrm flipH="false" flipV="false" rot="0">
              <a:off x="0" y="0"/>
              <a:ext cx="24597438" cy="13185648"/>
            </a:xfrm>
            <a:custGeom>
              <a:avLst/>
              <a:gdLst/>
              <a:ahLst/>
              <a:cxnLst/>
              <a:rect r="r" b="b" t="t" l="l"/>
              <a:pathLst>
                <a:path h="13185648" w="24597438">
                  <a:moveTo>
                    <a:pt x="0" y="0"/>
                  </a:moveTo>
                  <a:lnTo>
                    <a:pt x="24597438" y="0"/>
                  </a:lnTo>
                  <a:lnTo>
                    <a:pt x="24597438" y="13185648"/>
                  </a:lnTo>
                  <a:lnTo>
                    <a:pt x="0" y="13185648"/>
                  </a:lnTo>
                  <a:lnTo>
                    <a:pt x="0" y="0"/>
                  </a:lnTo>
                  <a:close/>
                </a:path>
              </a:pathLst>
            </a:custGeom>
            <a:blipFill>
              <a:blip r:embed="rId3"/>
              <a:stretch>
                <a:fillRect l="0" t="-431" r="0" b="-431"/>
              </a:stretch>
            </a:blipFill>
          </p:spPr>
        </p:sp>
      </p:grpSp>
      <p:sp>
        <p:nvSpPr>
          <p:cNvPr name="TextBox 4" id="4"/>
          <p:cNvSpPr txBox="true"/>
          <p:nvPr/>
        </p:nvSpPr>
        <p:spPr>
          <a:xfrm rot="0">
            <a:off x="906380" y="5367897"/>
            <a:ext cx="8791975" cy="803672"/>
          </a:xfrm>
          <a:prstGeom prst="rect">
            <a:avLst/>
          </a:prstGeom>
        </p:spPr>
        <p:txBody>
          <a:bodyPr anchor="t" rtlCol="false" tIns="0" lIns="0" bIns="0" rIns="0">
            <a:spAutoFit/>
          </a:bodyPr>
          <a:lstStyle/>
          <a:p>
            <a:pPr algn="l">
              <a:lnSpc>
                <a:spcPts val="5995"/>
              </a:lnSpc>
            </a:pPr>
            <a:r>
              <a:rPr lang="en-US" b="true" sz="4803">
                <a:solidFill>
                  <a:srgbClr val="000000"/>
                </a:solidFill>
                <a:latin typeface="Arimo Bold"/>
                <a:ea typeface="Arimo Bold"/>
                <a:cs typeface="Arimo Bold"/>
                <a:sym typeface="Arimo Bold"/>
              </a:rPr>
              <a:t>Automatic Water Dispenser</a:t>
            </a:r>
          </a:p>
        </p:txBody>
      </p:sp>
      <p:sp>
        <p:nvSpPr>
          <p:cNvPr name="TextBox 5" id="5"/>
          <p:cNvSpPr txBox="true"/>
          <p:nvPr/>
        </p:nvSpPr>
        <p:spPr>
          <a:xfrm rot="0">
            <a:off x="906380" y="6249509"/>
            <a:ext cx="16097517" cy="969563"/>
          </a:xfrm>
          <a:prstGeom prst="rect">
            <a:avLst/>
          </a:prstGeom>
        </p:spPr>
        <p:txBody>
          <a:bodyPr anchor="t" rtlCol="false" tIns="0" lIns="0" bIns="0" rIns="0">
            <a:spAutoFit/>
          </a:bodyPr>
          <a:lstStyle/>
          <a:p>
            <a:pPr algn="l">
              <a:lnSpc>
                <a:spcPts val="3992"/>
              </a:lnSpc>
            </a:pPr>
            <a:r>
              <a:rPr lang="en-US" sz="2501">
                <a:solidFill>
                  <a:srgbClr val="000000"/>
                </a:solidFill>
                <a:latin typeface="Barlow"/>
                <a:ea typeface="Barlow"/>
                <a:cs typeface="Barlow"/>
                <a:sym typeface="Barlow"/>
              </a:rPr>
              <a:t>A touchless water dispensing system developed to improve hygiene, reduce water wastage, and demonstrate practical automation using embedded systems.</a:t>
            </a:r>
          </a:p>
        </p:txBody>
      </p:sp>
      <p:sp>
        <p:nvSpPr>
          <p:cNvPr name="TextBox 6" id="6"/>
          <p:cNvSpPr txBox="true"/>
          <p:nvPr/>
        </p:nvSpPr>
        <p:spPr>
          <a:xfrm rot="0">
            <a:off x="906380" y="7354161"/>
            <a:ext cx="2075140" cy="422289"/>
          </a:xfrm>
          <a:prstGeom prst="rect">
            <a:avLst/>
          </a:prstGeom>
        </p:spPr>
        <p:txBody>
          <a:bodyPr anchor="t" rtlCol="false" tIns="0" lIns="0" bIns="0" rIns="0">
            <a:spAutoFit/>
          </a:bodyPr>
          <a:lstStyle/>
          <a:p>
            <a:pPr algn="l">
              <a:lnSpc>
                <a:spcPts val="3247"/>
              </a:lnSpc>
            </a:pPr>
            <a:r>
              <a:rPr lang="en-US" b="true" sz="2601">
                <a:solidFill>
                  <a:srgbClr val="000000"/>
                </a:solidFill>
                <a:latin typeface="Arimo Bold"/>
                <a:ea typeface="Arimo Bold"/>
                <a:cs typeface="Arimo Bold"/>
                <a:sym typeface="Arimo Bold"/>
              </a:rPr>
              <a:t>Project Team</a:t>
            </a:r>
          </a:p>
        </p:txBody>
      </p:sp>
      <p:sp>
        <p:nvSpPr>
          <p:cNvPr name="TextBox 7" id="7"/>
          <p:cNvSpPr txBox="true"/>
          <p:nvPr/>
        </p:nvSpPr>
        <p:spPr>
          <a:xfrm rot="0">
            <a:off x="906380" y="7852650"/>
            <a:ext cx="16097517" cy="1289450"/>
          </a:xfrm>
          <a:prstGeom prst="rect">
            <a:avLst/>
          </a:prstGeom>
        </p:spPr>
        <p:txBody>
          <a:bodyPr anchor="t" rtlCol="false" tIns="0" lIns="0" bIns="0" rIns="0">
            <a:spAutoFit/>
          </a:bodyPr>
          <a:lstStyle/>
          <a:p>
            <a:pPr algn="l">
              <a:lnSpc>
                <a:spcPts val="3513"/>
              </a:lnSpc>
            </a:pPr>
            <a:r>
              <a:rPr lang="en-US" b="true" sz="2201">
                <a:solidFill>
                  <a:srgbClr val="0A081B"/>
                </a:solidFill>
                <a:latin typeface="Barlow Bold"/>
                <a:ea typeface="Barlow Bold"/>
                <a:cs typeface="Barlow Bold"/>
                <a:sym typeface="Barlow Bold"/>
              </a:rPr>
              <a:t>Kushwanth P</a:t>
            </a:r>
            <a:r>
              <a:rPr lang="en-US" sz="2201">
                <a:solidFill>
                  <a:srgbClr val="0A081B"/>
                </a:solidFill>
                <a:latin typeface="Barlow"/>
                <a:ea typeface="Barlow"/>
                <a:cs typeface="Barlow"/>
                <a:sym typeface="Barlow"/>
              </a:rPr>
              <a:t> — Project Lead, Embedded Systems &amp; System Integration</a:t>
            </a:r>
          </a:p>
          <a:p>
            <a:pPr algn="l">
              <a:lnSpc>
                <a:spcPts val="3513"/>
              </a:lnSpc>
            </a:pPr>
            <a:r>
              <a:rPr lang="en-US" b="true" sz="2201">
                <a:solidFill>
                  <a:srgbClr val="0A081B"/>
                </a:solidFill>
                <a:latin typeface="Barlow Bold"/>
                <a:ea typeface="Barlow Bold"/>
                <a:cs typeface="Barlow Bold"/>
                <a:sym typeface="Barlow Bold"/>
              </a:rPr>
              <a:t>Likith M</a:t>
            </a:r>
            <a:r>
              <a:rPr lang="en-US" sz="2201">
                <a:solidFill>
                  <a:srgbClr val="0A081B"/>
                </a:solidFill>
                <a:latin typeface="Barlow"/>
                <a:ea typeface="Barlow"/>
                <a:cs typeface="Barlow"/>
                <a:sym typeface="Barlow"/>
              </a:rPr>
              <a:t> — 3D Design Engineer &amp; Product Enclosure Design</a:t>
            </a:r>
          </a:p>
          <a:p>
            <a:pPr algn="l">
              <a:lnSpc>
                <a:spcPts val="3513"/>
              </a:lnSpc>
            </a:pPr>
            <a:r>
              <a:rPr lang="en-US" sz="2201">
                <a:solidFill>
                  <a:srgbClr val="0A081B"/>
                </a:solidFill>
                <a:latin typeface="Barlow"/>
                <a:ea typeface="Barlow"/>
                <a:cs typeface="Barlow"/>
                <a:sym typeface="Barlow"/>
              </a:rPr>
              <a:t>Department of Electronics and Communication Engineering</a:t>
            </a:r>
          </a:p>
        </p:txBody>
      </p:sp>
      <p:sp>
        <p:nvSpPr>
          <p:cNvPr name="TextBox 8" id="8"/>
          <p:cNvSpPr txBox="true"/>
          <p:nvPr/>
        </p:nvSpPr>
        <p:spPr>
          <a:xfrm rot="0">
            <a:off x="906380" y="4774317"/>
            <a:ext cx="7505150" cy="469755"/>
          </a:xfrm>
          <a:prstGeom prst="rect">
            <a:avLst/>
          </a:prstGeom>
        </p:spPr>
        <p:txBody>
          <a:bodyPr anchor="t" rtlCol="false" tIns="0" lIns="0" bIns="0" rIns="0">
            <a:spAutoFit/>
          </a:bodyPr>
          <a:lstStyle/>
          <a:p>
            <a:pPr algn="l">
              <a:lnSpc>
                <a:spcPts val="3833"/>
              </a:lnSpc>
            </a:pPr>
            <a:r>
              <a:rPr lang="en-US" b="true" sz="2401">
                <a:solidFill>
                  <a:srgbClr val="000000"/>
                </a:solidFill>
                <a:latin typeface="Arimo Bold"/>
                <a:ea typeface="Arimo Bold"/>
                <a:cs typeface="Arimo Bold"/>
                <a:sym typeface="Arimo Bold"/>
              </a:rPr>
              <a:t>IDEALAB · PRODUCT DEVELOPMENT 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A081B">
                <a:alpha val="56078"/>
              </a:srgbClr>
            </a:solidFill>
          </p:spPr>
        </p:sp>
      </p:grpSp>
      <p:grpSp>
        <p:nvGrpSpPr>
          <p:cNvPr name="Group 6" id="6"/>
          <p:cNvGrpSpPr/>
          <p:nvPr/>
        </p:nvGrpSpPr>
        <p:grpSpPr>
          <a:xfrm rot="0">
            <a:off x="1092632" y="2081346"/>
            <a:ext cx="3218612" cy="575224"/>
            <a:chOff x="0" y="0"/>
            <a:chExt cx="4291482" cy="766966"/>
          </a:xfrm>
        </p:grpSpPr>
        <p:sp>
          <p:nvSpPr>
            <p:cNvPr name="Freeform 7" id="7"/>
            <p:cNvSpPr/>
            <p:nvPr/>
          </p:nvSpPr>
          <p:spPr>
            <a:xfrm flipH="false" flipV="false" rot="0">
              <a:off x="0" y="0"/>
              <a:ext cx="4291584" cy="767080"/>
            </a:xfrm>
            <a:custGeom>
              <a:avLst/>
              <a:gdLst/>
              <a:ahLst/>
              <a:cxnLst/>
              <a:rect r="r" b="b" t="t" l="l"/>
              <a:pathLst>
                <a:path h="767080" w="4291584">
                  <a:moveTo>
                    <a:pt x="0" y="383540"/>
                  </a:moveTo>
                  <a:cubicBezTo>
                    <a:pt x="0" y="171704"/>
                    <a:pt x="171704" y="0"/>
                    <a:pt x="383540" y="0"/>
                  </a:cubicBezTo>
                  <a:lnTo>
                    <a:pt x="3908044" y="0"/>
                  </a:lnTo>
                  <a:cubicBezTo>
                    <a:pt x="4119880" y="0"/>
                    <a:pt x="4291584" y="171704"/>
                    <a:pt x="4291584" y="383540"/>
                  </a:cubicBezTo>
                  <a:cubicBezTo>
                    <a:pt x="4291584" y="595376"/>
                    <a:pt x="4119880" y="767080"/>
                    <a:pt x="3908044" y="767080"/>
                  </a:cubicBezTo>
                  <a:lnTo>
                    <a:pt x="383540" y="767080"/>
                  </a:lnTo>
                  <a:cubicBezTo>
                    <a:pt x="171704" y="766953"/>
                    <a:pt x="0" y="595249"/>
                    <a:pt x="0" y="383540"/>
                  </a:cubicBezTo>
                  <a:close/>
                </a:path>
              </a:pathLst>
            </a:custGeom>
            <a:blipFill>
              <a:blip r:embed="rId4">
                <a:alphaModFix amt="0"/>
              </a:blip>
              <a:stretch>
                <a:fillRect l="0" t="-59017" r="2" b="-59002"/>
              </a:stretch>
            </a:blipFill>
            <a:ln w="19065" cap="sq">
              <a:solidFill>
                <a:srgbClr val="16FFBB"/>
              </a:solidFill>
              <a:prstDash val="solid"/>
              <a:miter/>
            </a:ln>
          </p:spPr>
        </p:sp>
      </p:grpSp>
      <p:sp>
        <p:nvSpPr>
          <p:cNvPr name="TextBox 8" id="8"/>
          <p:cNvSpPr txBox="true"/>
          <p:nvPr/>
        </p:nvSpPr>
        <p:spPr>
          <a:xfrm rot="0">
            <a:off x="1286551" y="2125932"/>
            <a:ext cx="3745859" cy="419376"/>
          </a:xfrm>
          <a:prstGeom prst="rect">
            <a:avLst/>
          </a:prstGeom>
        </p:spPr>
        <p:txBody>
          <a:bodyPr anchor="t" rtlCol="false" tIns="0" lIns="0" bIns="0" rIns="0">
            <a:spAutoFit/>
          </a:bodyPr>
          <a:lstStyle/>
          <a:p>
            <a:pPr algn="l">
              <a:lnSpc>
                <a:spcPts val="2755"/>
              </a:lnSpc>
            </a:pPr>
            <a:r>
              <a:rPr lang="en-US" sz="1726">
                <a:solidFill>
                  <a:srgbClr val="16FFBB"/>
                </a:solidFill>
                <a:latin typeface="Barlow"/>
                <a:ea typeface="Barlow"/>
                <a:cs typeface="Barlow"/>
                <a:sym typeface="Barlow"/>
              </a:rPr>
              <a:t>CHAPTER 1 · PROJECT ORIGIN</a:t>
            </a:r>
          </a:p>
        </p:txBody>
      </p:sp>
      <p:sp>
        <p:nvSpPr>
          <p:cNvPr name="TextBox 9" id="9"/>
          <p:cNvSpPr txBox="true"/>
          <p:nvPr/>
        </p:nvSpPr>
        <p:spPr>
          <a:xfrm rot="0">
            <a:off x="1102157" y="2719159"/>
            <a:ext cx="8332194" cy="803672"/>
          </a:xfrm>
          <a:prstGeom prst="rect">
            <a:avLst/>
          </a:prstGeom>
        </p:spPr>
        <p:txBody>
          <a:bodyPr anchor="t" rtlCol="false" tIns="0" lIns="0" bIns="0" rIns="0">
            <a:spAutoFit/>
          </a:bodyPr>
          <a:lstStyle/>
          <a:p>
            <a:pPr algn="l">
              <a:lnSpc>
                <a:spcPts val="5995"/>
              </a:lnSpc>
            </a:pPr>
            <a:r>
              <a:rPr lang="en-US" sz="4803" b="true">
                <a:solidFill>
                  <a:srgbClr val="F0FCFF"/>
                </a:solidFill>
                <a:latin typeface="Arimo Bold"/>
                <a:ea typeface="Arimo Bold"/>
                <a:cs typeface="Arimo Bold"/>
                <a:sym typeface="Arimo Bold"/>
              </a:rPr>
              <a:t>Introduction &amp; Inspiration</a:t>
            </a:r>
          </a:p>
        </p:txBody>
      </p:sp>
      <p:grpSp>
        <p:nvGrpSpPr>
          <p:cNvPr name="Group 10" id="10"/>
          <p:cNvGrpSpPr/>
          <p:nvPr/>
        </p:nvGrpSpPr>
        <p:grpSpPr>
          <a:xfrm rot="0">
            <a:off x="903770" y="3936159"/>
            <a:ext cx="8247150" cy="4340511"/>
            <a:chOff x="0" y="0"/>
            <a:chExt cx="10812501" cy="5690667"/>
          </a:xfrm>
        </p:grpSpPr>
        <p:sp>
          <p:nvSpPr>
            <p:cNvPr name="Freeform 11" id="11"/>
            <p:cNvSpPr/>
            <p:nvPr/>
          </p:nvSpPr>
          <p:spPr>
            <a:xfrm flipH="false" flipV="false" rot="0">
              <a:off x="0" y="0"/>
              <a:ext cx="10812526" cy="5690743"/>
            </a:xfrm>
            <a:custGeom>
              <a:avLst/>
              <a:gdLst/>
              <a:ahLst/>
              <a:cxnLst/>
              <a:rect r="r" b="b" t="t" l="l"/>
              <a:pathLst>
                <a:path h="5690743" w="10812526">
                  <a:moveTo>
                    <a:pt x="0" y="881888"/>
                  </a:moveTo>
                  <a:cubicBezTo>
                    <a:pt x="0" y="394843"/>
                    <a:pt x="394843" y="0"/>
                    <a:pt x="881888" y="0"/>
                  </a:cubicBezTo>
                  <a:lnTo>
                    <a:pt x="9930638" y="0"/>
                  </a:lnTo>
                  <a:cubicBezTo>
                    <a:pt x="10417683" y="0"/>
                    <a:pt x="10812526" y="394843"/>
                    <a:pt x="10812526" y="881888"/>
                  </a:cubicBezTo>
                  <a:lnTo>
                    <a:pt x="10812526" y="4808855"/>
                  </a:lnTo>
                  <a:cubicBezTo>
                    <a:pt x="10812526" y="5295900"/>
                    <a:pt x="10417683" y="5690743"/>
                    <a:pt x="9930638" y="5690743"/>
                  </a:cubicBezTo>
                  <a:lnTo>
                    <a:pt x="881888" y="5690743"/>
                  </a:lnTo>
                  <a:cubicBezTo>
                    <a:pt x="394843" y="5690616"/>
                    <a:pt x="0" y="5295900"/>
                    <a:pt x="0" y="4808855"/>
                  </a:cubicBezTo>
                  <a:close/>
                </a:path>
              </a:pathLst>
            </a:custGeom>
            <a:solidFill>
              <a:srgbClr val="16FFBB">
                <a:alpha val="56078"/>
              </a:srgbClr>
            </a:solidFill>
          </p:spPr>
        </p:sp>
      </p:grpSp>
      <p:sp>
        <p:nvSpPr>
          <p:cNvPr name="TextBox 12" id="12"/>
          <p:cNvSpPr txBox="true"/>
          <p:nvPr/>
        </p:nvSpPr>
        <p:spPr>
          <a:xfrm rot="0">
            <a:off x="1179309" y="4192657"/>
            <a:ext cx="4697444" cy="401841"/>
          </a:xfrm>
          <a:prstGeom prst="rect">
            <a:avLst/>
          </a:prstGeom>
        </p:spPr>
        <p:txBody>
          <a:bodyPr anchor="t" rtlCol="false" tIns="0" lIns="0" bIns="0" rIns="0">
            <a:spAutoFit/>
          </a:bodyPr>
          <a:lstStyle/>
          <a:p>
            <a:pPr algn="l">
              <a:lnSpc>
                <a:spcPts val="2997"/>
              </a:lnSpc>
            </a:pPr>
            <a:r>
              <a:rPr lang="en-US" sz="2401" b="true">
                <a:solidFill>
                  <a:srgbClr val="000000"/>
                </a:solidFill>
                <a:latin typeface="Arimo Bold"/>
                <a:ea typeface="Arimo Bold"/>
                <a:cs typeface="Arimo Bold"/>
                <a:sym typeface="Arimo Bold"/>
              </a:rPr>
              <a:t>The Problem We Observed</a:t>
            </a:r>
          </a:p>
        </p:txBody>
      </p:sp>
      <p:sp>
        <p:nvSpPr>
          <p:cNvPr name="TextBox 13" id="13"/>
          <p:cNvSpPr txBox="true"/>
          <p:nvPr/>
        </p:nvSpPr>
        <p:spPr>
          <a:xfrm rot="0">
            <a:off x="1179309" y="4784312"/>
            <a:ext cx="7558297" cy="2713171"/>
          </a:xfrm>
          <a:prstGeom prst="rect">
            <a:avLst/>
          </a:prstGeom>
        </p:spPr>
        <p:txBody>
          <a:bodyPr anchor="t" rtlCol="false" tIns="0" lIns="0" bIns="0" rIns="0">
            <a:spAutoFit/>
          </a:bodyPr>
          <a:lstStyle/>
          <a:p>
            <a:pPr algn="l">
              <a:lnSpc>
                <a:spcPts val="3673"/>
              </a:lnSpc>
            </a:pPr>
            <a:r>
              <a:rPr lang="en-US" sz="2301">
                <a:solidFill>
                  <a:srgbClr val="000000"/>
                </a:solidFill>
                <a:latin typeface="Barlow"/>
                <a:ea typeface="Barlow"/>
                <a:cs typeface="Barlow"/>
                <a:sym typeface="Barlow"/>
              </a:rPr>
              <a:t>The idea for the Automatic Water Dispenser emerged from observing how frequently shared water dispensers require physical contact. In schools, offices, hospitals, and public places, hundreds of people use the same water tap every day, increasing the possibility of contamination and poor hygiene.</a:t>
            </a:r>
          </a:p>
        </p:txBody>
      </p:sp>
      <p:sp>
        <p:nvSpPr>
          <p:cNvPr name="TextBox 14" id="14"/>
          <p:cNvSpPr txBox="true"/>
          <p:nvPr/>
        </p:nvSpPr>
        <p:spPr>
          <a:xfrm rot="0">
            <a:off x="9496616" y="4192657"/>
            <a:ext cx="4692672" cy="401841"/>
          </a:xfrm>
          <a:prstGeom prst="rect">
            <a:avLst/>
          </a:prstGeom>
        </p:spPr>
        <p:txBody>
          <a:bodyPr anchor="t" rtlCol="false" tIns="0" lIns="0" bIns="0" rIns="0">
            <a:spAutoFit/>
          </a:bodyPr>
          <a:lstStyle/>
          <a:p>
            <a:pPr algn="l">
              <a:lnSpc>
                <a:spcPts val="2997"/>
              </a:lnSpc>
            </a:pPr>
            <a:r>
              <a:rPr lang="en-US" sz="2401" b="true">
                <a:solidFill>
                  <a:srgbClr val="F0FCFF"/>
                </a:solidFill>
                <a:latin typeface="Arimo Bold"/>
                <a:ea typeface="Arimo Bold"/>
                <a:cs typeface="Arimo Bold"/>
                <a:sym typeface="Arimo Bold"/>
              </a:rPr>
              <a:t>Why This Problem Matters</a:t>
            </a:r>
          </a:p>
        </p:txBody>
      </p:sp>
      <p:sp>
        <p:nvSpPr>
          <p:cNvPr name="TextBox 15" id="15"/>
          <p:cNvSpPr txBox="true"/>
          <p:nvPr/>
        </p:nvSpPr>
        <p:spPr>
          <a:xfrm rot="0">
            <a:off x="9496615" y="4784312"/>
            <a:ext cx="7712602" cy="3042050"/>
          </a:xfrm>
          <a:prstGeom prst="rect">
            <a:avLst/>
          </a:prstGeom>
        </p:spPr>
        <p:txBody>
          <a:bodyPr anchor="t" rtlCol="false" tIns="0" lIns="0" bIns="0" rIns="0">
            <a:spAutoFit/>
          </a:bodyPr>
          <a:lstStyle/>
          <a:p>
            <a:pPr algn="l">
              <a:lnSpc>
                <a:spcPts val="3513"/>
              </a:lnSpc>
            </a:pPr>
            <a:r>
              <a:rPr lang="en-US" sz="2201">
                <a:solidFill>
                  <a:srgbClr val="E0E4E6"/>
                </a:solidFill>
                <a:latin typeface="Barlow"/>
                <a:ea typeface="Barlow"/>
                <a:cs typeface="Barlow"/>
                <a:sym typeface="Barlow"/>
              </a:rPr>
              <a:t>Access to clean drinking water is essential, but hygiene during dispensing is equally important. The project was conceived as a simple yet impactful solution that combines sensors, automation, and embedded systems to provide a completely touchless water dispensing experience. By eliminating physical contact, the system helps reduce the spread of germs while providing a more convenient user experience.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A081B">
                <a:alpha val="56078"/>
              </a:srgbClr>
            </a:solidFill>
          </p:spPr>
        </p:sp>
      </p:grpSp>
      <p:grpSp>
        <p:nvGrpSpPr>
          <p:cNvPr name="Group 6" id="6"/>
          <p:cNvGrpSpPr/>
          <p:nvPr/>
        </p:nvGrpSpPr>
        <p:grpSpPr>
          <a:xfrm rot="0">
            <a:off x="1075506" y="835723"/>
            <a:ext cx="2204618" cy="564204"/>
            <a:chOff x="0" y="0"/>
            <a:chExt cx="2939491" cy="752272"/>
          </a:xfrm>
        </p:grpSpPr>
        <p:sp>
          <p:nvSpPr>
            <p:cNvPr name="Freeform 7" id="7"/>
            <p:cNvSpPr/>
            <p:nvPr/>
          </p:nvSpPr>
          <p:spPr>
            <a:xfrm flipH="false" flipV="false" rot="0">
              <a:off x="0" y="0"/>
              <a:ext cx="2939542" cy="752221"/>
            </a:xfrm>
            <a:custGeom>
              <a:avLst/>
              <a:gdLst/>
              <a:ahLst/>
              <a:cxnLst/>
              <a:rect r="r" b="b" t="t" l="l"/>
              <a:pathLst>
                <a:path h="752221" w="2939542">
                  <a:moveTo>
                    <a:pt x="0" y="376174"/>
                  </a:moveTo>
                  <a:cubicBezTo>
                    <a:pt x="0" y="168402"/>
                    <a:pt x="168402" y="0"/>
                    <a:pt x="376174" y="0"/>
                  </a:cubicBezTo>
                  <a:lnTo>
                    <a:pt x="2563368" y="0"/>
                  </a:lnTo>
                  <a:cubicBezTo>
                    <a:pt x="2771140" y="0"/>
                    <a:pt x="2939542" y="168402"/>
                    <a:pt x="2939542" y="376174"/>
                  </a:cubicBezTo>
                  <a:cubicBezTo>
                    <a:pt x="2939542" y="583946"/>
                    <a:pt x="2771140" y="752221"/>
                    <a:pt x="2563368" y="752221"/>
                  </a:cubicBezTo>
                  <a:lnTo>
                    <a:pt x="376174" y="752221"/>
                  </a:lnTo>
                  <a:cubicBezTo>
                    <a:pt x="168402" y="752221"/>
                    <a:pt x="0" y="583819"/>
                    <a:pt x="0" y="376174"/>
                  </a:cubicBezTo>
                  <a:close/>
                </a:path>
              </a:pathLst>
            </a:custGeom>
            <a:blipFill>
              <a:blip r:embed="rId4">
                <a:alphaModFix amt="0"/>
              </a:blip>
              <a:stretch>
                <a:fillRect l="0" t="-26139" r="1" b="-26146"/>
              </a:stretch>
            </a:blipFill>
            <a:ln w="19065" cap="sq">
              <a:solidFill>
                <a:srgbClr val="16FFBB"/>
              </a:solidFill>
              <a:prstDash val="solid"/>
              <a:miter/>
            </a:ln>
          </p:spPr>
        </p:sp>
      </p:grpSp>
      <p:sp>
        <p:nvSpPr>
          <p:cNvPr name="TextBox 8" id="8"/>
          <p:cNvSpPr txBox="true"/>
          <p:nvPr/>
        </p:nvSpPr>
        <p:spPr>
          <a:xfrm rot="0">
            <a:off x="1266739" y="878977"/>
            <a:ext cx="2737237" cy="411032"/>
          </a:xfrm>
          <a:prstGeom prst="rect">
            <a:avLst/>
          </a:prstGeom>
        </p:spPr>
        <p:txBody>
          <a:bodyPr anchor="t" rtlCol="false" tIns="0" lIns="0" bIns="0" rIns="0">
            <a:spAutoFit/>
          </a:bodyPr>
          <a:lstStyle/>
          <a:p>
            <a:pPr algn="l">
              <a:lnSpc>
                <a:spcPts val="2615"/>
              </a:lnSpc>
            </a:pPr>
            <a:r>
              <a:rPr lang="en-US" sz="1651">
                <a:solidFill>
                  <a:srgbClr val="16FFBB"/>
                </a:solidFill>
                <a:latin typeface="Barlow"/>
                <a:ea typeface="Barlow"/>
                <a:cs typeface="Barlow"/>
                <a:sym typeface="Barlow"/>
              </a:rPr>
              <a:t>CHAPTER 1 · VISION</a:t>
            </a:r>
          </a:p>
        </p:txBody>
      </p:sp>
      <p:sp>
        <p:nvSpPr>
          <p:cNvPr name="TextBox 9" id="9"/>
          <p:cNvSpPr txBox="true"/>
          <p:nvPr/>
        </p:nvSpPr>
        <p:spPr>
          <a:xfrm rot="0">
            <a:off x="1085031" y="1449562"/>
            <a:ext cx="7010943" cy="800986"/>
          </a:xfrm>
          <a:prstGeom prst="rect">
            <a:avLst/>
          </a:prstGeom>
        </p:spPr>
        <p:txBody>
          <a:bodyPr anchor="t" rtlCol="false" tIns="0" lIns="0" bIns="0" rIns="0">
            <a:spAutoFit/>
          </a:bodyPr>
          <a:lstStyle/>
          <a:p>
            <a:pPr algn="l">
              <a:lnSpc>
                <a:spcPts val="5901"/>
              </a:lnSpc>
            </a:pPr>
            <a:r>
              <a:rPr lang="en-US" sz="4728" b="true">
                <a:solidFill>
                  <a:srgbClr val="F0FCFF"/>
                </a:solidFill>
                <a:latin typeface="Arimo Bold"/>
                <a:ea typeface="Arimo Bold"/>
                <a:cs typeface="Arimo Bold"/>
                <a:sym typeface="Arimo Bold"/>
              </a:rPr>
              <a:t>What We Are Building</a:t>
            </a:r>
          </a:p>
        </p:txBody>
      </p:sp>
      <p:sp>
        <p:nvSpPr>
          <p:cNvPr name="TextBox 10" id="10"/>
          <p:cNvSpPr txBox="true"/>
          <p:nvPr/>
        </p:nvSpPr>
        <p:spPr>
          <a:xfrm rot="0">
            <a:off x="1085031" y="2574865"/>
            <a:ext cx="16131778" cy="1283280"/>
          </a:xfrm>
          <a:prstGeom prst="rect">
            <a:avLst/>
          </a:prstGeom>
        </p:spPr>
        <p:txBody>
          <a:bodyPr anchor="t" rtlCol="false" tIns="0" lIns="0" bIns="0" rIns="0">
            <a:spAutoFit/>
          </a:bodyPr>
          <a:lstStyle/>
          <a:p>
            <a:pPr algn="l">
              <a:lnSpc>
                <a:spcPts val="3487"/>
              </a:lnSpc>
            </a:pPr>
            <a:r>
              <a:rPr lang="en-US" sz="2201">
                <a:solidFill>
                  <a:srgbClr val="E0E4E6"/>
                </a:solidFill>
                <a:latin typeface="Barlow"/>
                <a:ea typeface="Barlow"/>
                <a:cs typeface="Barlow"/>
                <a:sym typeface="Barlow"/>
              </a:rPr>
              <a:t>The Automatic Water Dispenser is a compact smart system capable of detecting a user's hand and automatically dispensing water without requiring any physical interaction. The project integrates sensing technology, actuator control, and user feedback through a display interface to create a complete embedded solution.</a:t>
            </a:r>
          </a:p>
        </p:txBody>
      </p:sp>
      <p:sp>
        <p:nvSpPr>
          <p:cNvPr name="TextBox 11" id="11"/>
          <p:cNvSpPr txBox="true"/>
          <p:nvPr/>
        </p:nvSpPr>
        <p:spPr>
          <a:xfrm rot="0">
            <a:off x="1085031" y="4314349"/>
            <a:ext cx="2773680" cy="394781"/>
          </a:xfrm>
          <a:prstGeom prst="rect">
            <a:avLst/>
          </a:prstGeom>
        </p:spPr>
        <p:txBody>
          <a:bodyPr anchor="t" rtlCol="false" tIns="0" lIns="0" bIns="0" rIns="0">
            <a:spAutoFit/>
          </a:bodyPr>
          <a:lstStyle/>
          <a:p>
            <a:pPr algn="l">
              <a:lnSpc>
                <a:spcPts val="3028"/>
              </a:lnSpc>
            </a:pPr>
            <a:r>
              <a:rPr lang="en-US" sz="2426" b="true">
                <a:solidFill>
                  <a:srgbClr val="F0FCFF"/>
                </a:solidFill>
                <a:latin typeface="Arimo Bold"/>
                <a:ea typeface="Arimo Bold"/>
                <a:cs typeface="Arimo Bold"/>
                <a:sym typeface="Arimo Bold"/>
              </a:rPr>
              <a:t>Design Philosophy</a:t>
            </a:r>
          </a:p>
        </p:txBody>
      </p:sp>
      <p:sp>
        <p:nvSpPr>
          <p:cNvPr name="TextBox 12" id="12"/>
          <p:cNvSpPr txBox="true"/>
          <p:nvPr/>
        </p:nvSpPr>
        <p:spPr>
          <a:xfrm rot="0">
            <a:off x="1085031" y="5044069"/>
            <a:ext cx="17046864" cy="406980"/>
          </a:xfrm>
          <a:prstGeom prst="rect">
            <a:avLst/>
          </a:prstGeom>
        </p:spPr>
        <p:txBody>
          <a:bodyPr anchor="t" rtlCol="false" tIns="0" lIns="0" bIns="0" rIns="0">
            <a:spAutoFit/>
          </a:bodyPr>
          <a:lstStyle/>
          <a:p>
            <a:pPr algn="l">
              <a:lnSpc>
                <a:spcPts val="3487"/>
              </a:lnSpc>
            </a:pPr>
            <a:r>
              <a:rPr lang="en-US" sz="2201">
                <a:solidFill>
                  <a:srgbClr val="E0E4E6"/>
                </a:solidFill>
                <a:latin typeface="Barlow"/>
                <a:ea typeface="Barlow"/>
                <a:cs typeface="Barlow"/>
                <a:sym typeface="Barlow"/>
              </a:rPr>
              <a:t>The product is designed around three core principles that guided every engineering decision throughout the project.</a:t>
            </a:r>
          </a:p>
        </p:txBody>
      </p:sp>
      <p:grpSp>
        <p:nvGrpSpPr>
          <p:cNvPr name="Group 13" id="13"/>
          <p:cNvGrpSpPr/>
          <p:nvPr/>
        </p:nvGrpSpPr>
        <p:grpSpPr>
          <a:xfrm rot="0">
            <a:off x="1070734" y="5836691"/>
            <a:ext cx="5227825" cy="2896524"/>
            <a:chOff x="0" y="0"/>
            <a:chExt cx="6970433" cy="3862032"/>
          </a:xfrm>
        </p:grpSpPr>
        <p:sp>
          <p:nvSpPr>
            <p:cNvPr name="Freeform 14" id="14"/>
            <p:cNvSpPr/>
            <p:nvPr/>
          </p:nvSpPr>
          <p:spPr>
            <a:xfrm flipH="false" flipV="false" rot="0">
              <a:off x="0" y="0"/>
              <a:ext cx="6970522" cy="3862070"/>
            </a:xfrm>
            <a:custGeom>
              <a:avLst/>
              <a:gdLst/>
              <a:ahLst/>
              <a:cxnLst/>
              <a:rect r="r" b="b" t="t" l="l"/>
              <a:pathLst>
                <a:path h="3862070" w="6970522">
                  <a:moveTo>
                    <a:pt x="0" y="548005"/>
                  </a:moveTo>
                  <a:cubicBezTo>
                    <a:pt x="0" y="245364"/>
                    <a:pt x="245364" y="0"/>
                    <a:pt x="548005" y="0"/>
                  </a:cubicBezTo>
                  <a:lnTo>
                    <a:pt x="6422517" y="0"/>
                  </a:lnTo>
                  <a:cubicBezTo>
                    <a:pt x="6725158" y="0"/>
                    <a:pt x="6970522" y="245364"/>
                    <a:pt x="6970522" y="548005"/>
                  </a:cubicBezTo>
                  <a:lnTo>
                    <a:pt x="6970522" y="3314065"/>
                  </a:lnTo>
                  <a:cubicBezTo>
                    <a:pt x="6970522" y="3616706"/>
                    <a:pt x="6725158" y="3862070"/>
                    <a:pt x="6422517" y="3862070"/>
                  </a:cubicBezTo>
                  <a:lnTo>
                    <a:pt x="548005" y="3862070"/>
                  </a:lnTo>
                  <a:cubicBezTo>
                    <a:pt x="245364" y="3862070"/>
                    <a:pt x="0" y="3616706"/>
                    <a:pt x="0" y="3314065"/>
                  </a:cubicBezTo>
                  <a:close/>
                </a:path>
              </a:pathLst>
            </a:custGeom>
            <a:solidFill>
              <a:srgbClr val="0A081B"/>
            </a:solidFill>
            <a:ln w="28597" cap="sq">
              <a:solidFill>
                <a:srgbClr val="16FFBB"/>
              </a:solidFill>
              <a:prstDash val="solid"/>
              <a:miter/>
            </a:ln>
          </p:spPr>
        </p:sp>
      </p:grpSp>
      <p:sp>
        <p:nvSpPr>
          <p:cNvPr name="TextBox 15" id="15"/>
          <p:cNvSpPr txBox="true"/>
          <p:nvPr/>
        </p:nvSpPr>
        <p:spPr>
          <a:xfrm rot="0">
            <a:off x="1384849" y="6122241"/>
            <a:ext cx="3014110" cy="394781"/>
          </a:xfrm>
          <a:prstGeom prst="rect">
            <a:avLst/>
          </a:prstGeom>
        </p:spPr>
        <p:txBody>
          <a:bodyPr anchor="t" rtlCol="false" tIns="0" lIns="0" bIns="0" rIns="0">
            <a:spAutoFit/>
          </a:bodyPr>
          <a:lstStyle/>
          <a:p>
            <a:pPr algn="l">
              <a:lnSpc>
                <a:spcPts val="3028"/>
              </a:lnSpc>
            </a:pPr>
            <a:r>
              <a:rPr lang="en-US" sz="2426" b="true">
                <a:solidFill>
                  <a:srgbClr val="000000"/>
                </a:solidFill>
                <a:latin typeface="Arimo Bold"/>
                <a:ea typeface="Arimo Bold"/>
                <a:cs typeface="Arimo Bold"/>
                <a:sym typeface="Arimo Bold"/>
              </a:rPr>
              <a:t>🧼</a:t>
            </a:r>
            <a:r>
              <a:rPr lang="en-US" sz="2426" b="true">
                <a:solidFill>
                  <a:srgbClr val="E0E4E6"/>
                </a:solidFill>
                <a:latin typeface="Arimo Bold"/>
                <a:ea typeface="Arimo Bold"/>
                <a:cs typeface="Arimo Bold"/>
                <a:sym typeface="Arimo Bold"/>
              </a:rPr>
              <a:t> Hygiene</a:t>
            </a:r>
          </a:p>
        </p:txBody>
      </p:sp>
      <p:sp>
        <p:nvSpPr>
          <p:cNvPr name="TextBox 16" id="16"/>
          <p:cNvSpPr txBox="true"/>
          <p:nvPr/>
        </p:nvSpPr>
        <p:spPr>
          <a:xfrm rot="0">
            <a:off x="1384849" y="6621085"/>
            <a:ext cx="4599584" cy="1721430"/>
          </a:xfrm>
          <a:prstGeom prst="rect">
            <a:avLst/>
          </a:prstGeom>
        </p:spPr>
        <p:txBody>
          <a:bodyPr anchor="t" rtlCol="false" tIns="0" lIns="0" bIns="0" rIns="0">
            <a:spAutoFit/>
          </a:bodyPr>
          <a:lstStyle/>
          <a:p>
            <a:pPr algn="l">
              <a:lnSpc>
                <a:spcPts val="3487"/>
              </a:lnSpc>
            </a:pPr>
            <a:r>
              <a:rPr lang="en-US" sz="2201">
                <a:solidFill>
                  <a:srgbClr val="E0E4E6"/>
                </a:solidFill>
                <a:latin typeface="Barlow"/>
                <a:ea typeface="Barlow"/>
                <a:cs typeface="Barlow"/>
                <a:sym typeface="Barlow"/>
              </a:rPr>
              <a:t>Zero physical contact required. The system eliminates the primary vector for germ transmission at shared water points.</a:t>
            </a:r>
          </a:p>
        </p:txBody>
      </p:sp>
      <p:grpSp>
        <p:nvGrpSpPr>
          <p:cNvPr name="Group 17" id="17"/>
          <p:cNvGrpSpPr/>
          <p:nvPr/>
        </p:nvGrpSpPr>
        <p:grpSpPr>
          <a:xfrm rot="0">
            <a:off x="6536865" y="5836691"/>
            <a:ext cx="5227968" cy="2896524"/>
            <a:chOff x="0" y="0"/>
            <a:chExt cx="6970624" cy="3862032"/>
          </a:xfrm>
        </p:grpSpPr>
        <p:sp>
          <p:nvSpPr>
            <p:cNvPr name="Freeform 18" id="18"/>
            <p:cNvSpPr/>
            <p:nvPr/>
          </p:nvSpPr>
          <p:spPr>
            <a:xfrm flipH="false" flipV="false" rot="0">
              <a:off x="0" y="0"/>
              <a:ext cx="6970649" cy="3862070"/>
            </a:xfrm>
            <a:custGeom>
              <a:avLst/>
              <a:gdLst/>
              <a:ahLst/>
              <a:cxnLst/>
              <a:rect r="r" b="b" t="t" l="l"/>
              <a:pathLst>
                <a:path h="3862070" w="6970649">
                  <a:moveTo>
                    <a:pt x="0" y="548005"/>
                  </a:moveTo>
                  <a:cubicBezTo>
                    <a:pt x="0" y="245364"/>
                    <a:pt x="245364" y="0"/>
                    <a:pt x="548005" y="0"/>
                  </a:cubicBezTo>
                  <a:lnTo>
                    <a:pt x="6422644" y="0"/>
                  </a:lnTo>
                  <a:cubicBezTo>
                    <a:pt x="6725285" y="0"/>
                    <a:pt x="6970649" y="245364"/>
                    <a:pt x="6970649" y="548005"/>
                  </a:cubicBezTo>
                  <a:lnTo>
                    <a:pt x="6970649" y="3314065"/>
                  </a:lnTo>
                  <a:cubicBezTo>
                    <a:pt x="6970649" y="3616706"/>
                    <a:pt x="6725285" y="3862070"/>
                    <a:pt x="6422644" y="3862070"/>
                  </a:cubicBezTo>
                  <a:lnTo>
                    <a:pt x="548005" y="3862070"/>
                  </a:lnTo>
                  <a:cubicBezTo>
                    <a:pt x="245364" y="3862070"/>
                    <a:pt x="0" y="3616706"/>
                    <a:pt x="0" y="3314065"/>
                  </a:cubicBezTo>
                  <a:close/>
                </a:path>
              </a:pathLst>
            </a:custGeom>
            <a:solidFill>
              <a:srgbClr val="0A081B"/>
            </a:solidFill>
            <a:ln w="28597" cap="sq">
              <a:solidFill>
                <a:srgbClr val="29DDDA"/>
              </a:solidFill>
              <a:prstDash val="solid"/>
              <a:miter/>
            </a:ln>
          </p:spPr>
        </p:sp>
      </p:grpSp>
      <p:sp>
        <p:nvSpPr>
          <p:cNvPr name="TextBox 19" id="19"/>
          <p:cNvSpPr txBox="true"/>
          <p:nvPr/>
        </p:nvSpPr>
        <p:spPr>
          <a:xfrm rot="0">
            <a:off x="6850980" y="6122241"/>
            <a:ext cx="3014110" cy="394781"/>
          </a:xfrm>
          <a:prstGeom prst="rect">
            <a:avLst/>
          </a:prstGeom>
        </p:spPr>
        <p:txBody>
          <a:bodyPr anchor="t" rtlCol="false" tIns="0" lIns="0" bIns="0" rIns="0">
            <a:spAutoFit/>
          </a:bodyPr>
          <a:lstStyle/>
          <a:p>
            <a:pPr algn="l">
              <a:lnSpc>
                <a:spcPts val="3028"/>
              </a:lnSpc>
            </a:pPr>
            <a:r>
              <a:rPr lang="en-US" sz="2426" b="true">
                <a:solidFill>
                  <a:srgbClr val="000000"/>
                </a:solidFill>
                <a:latin typeface="Arimo Bold"/>
                <a:ea typeface="Arimo Bold"/>
                <a:cs typeface="Arimo Bold"/>
                <a:sym typeface="Arimo Bold"/>
              </a:rPr>
              <a:t>⚡</a:t>
            </a:r>
            <a:r>
              <a:rPr lang="en-US" sz="2426" b="true">
                <a:solidFill>
                  <a:srgbClr val="E0E4E6"/>
                </a:solidFill>
                <a:latin typeface="Arimo Bold"/>
                <a:ea typeface="Arimo Bold"/>
                <a:cs typeface="Arimo Bold"/>
                <a:sym typeface="Arimo Bold"/>
              </a:rPr>
              <a:t> Simplicity</a:t>
            </a:r>
          </a:p>
        </p:txBody>
      </p:sp>
      <p:sp>
        <p:nvSpPr>
          <p:cNvPr name="TextBox 20" id="20"/>
          <p:cNvSpPr txBox="true"/>
          <p:nvPr/>
        </p:nvSpPr>
        <p:spPr>
          <a:xfrm rot="0">
            <a:off x="6850980" y="6621085"/>
            <a:ext cx="4599737" cy="1721430"/>
          </a:xfrm>
          <a:prstGeom prst="rect">
            <a:avLst/>
          </a:prstGeom>
        </p:spPr>
        <p:txBody>
          <a:bodyPr anchor="t" rtlCol="false" tIns="0" lIns="0" bIns="0" rIns="0">
            <a:spAutoFit/>
          </a:bodyPr>
          <a:lstStyle/>
          <a:p>
            <a:pPr algn="l">
              <a:lnSpc>
                <a:spcPts val="3487"/>
              </a:lnSpc>
            </a:pPr>
            <a:r>
              <a:rPr lang="en-US" sz="2201">
                <a:solidFill>
                  <a:srgbClr val="E0E4E6"/>
                </a:solidFill>
                <a:latin typeface="Barlow"/>
                <a:ea typeface="Barlow"/>
                <a:cs typeface="Barlow"/>
                <a:sym typeface="Barlow"/>
              </a:rPr>
              <a:t>Intuitive operation with no learning curve. Users simply place their hand under the dispenser and water flows automatically.</a:t>
            </a:r>
          </a:p>
        </p:txBody>
      </p:sp>
      <p:grpSp>
        <p:nvGrpSpPr>
          <p:cNvPr name="Group 21" id="21"/>
          <p:cNvGrpSpPr/>
          <p:nvPr/>
        </p:nvGrpSpPr>
        <p:grpSpPr>
          <a:xfrm rot="0">
            <a:off x="12003138" y="5836691"/>
            <a:ext cx="5227968" cy="2896524"/>
            <a:chOff x="0" y="0"/>
            <a:chExt cx="6970624" cy="3862032"/>
          </a:xfrm>
        </p:grpSpPr>
        <p:sp>
          <p:nvSpPr>
            <p:cNvPr name="Freeform 22" id="22"/>
            <p:cNvSpPr/>
            <p:nvPr/>
          </p:nvSpPr>
          <p:spPr>
            <a:xfrm flipH="false" flipV="false" rot="0">
              <a:off x="0" y="0"/>
              <a:ext cx="6970649" cy="3862070"/>
            </a:xfrm>
            <a:custGeom>
              <a:avLst/>
              <a:gdLst/>
              <a:ahLst/>
              <a:cxnLst/>
              <a:rect r="r" b="b" t="t" l="l"/>
              <a:pathLst>
                <a:path h="3862070" w="6970649">
                  <a:moveTo>
                    <a:pt x="0" y="548005"/>
                  </a:moveTo>
                  <a:cubicBezTo>
                    <a:pt x="0" y="245364"/>
                    <a:pt x="245364" y="0"/>
                    <a:pt x="548005" y="0"/>
                  </a:cubicBezTo>
                  <a:lnTo>
                    <a:pt x="6422644" y="0"/>
                  </a:lnTo>
                  <a:cubicBezTo>
                    <a:pt x="6725285" y="0"/>
                    <a:pt x="6970649" y="245364"/>
                    <a:pt x="6970649" y="548005"/>
                  </a:cubicBezTo>
                  <a:lnTo>
                    <a:pt x="6970649" y="3314065"/>
                  </a:lnTo>
                  <a:cubicBezTo>
                    <a:pt x="6970649" y="3616706"/>
                    <a:pt x="6725285" y="3862070"/>
                    <a:pt x="6422644" y="3862070"/>
                  </a:cubicBezTo>
                  <a:lnTo>
                    <a:pt x="548005" y="3862070"/>
                  </a:lnTo>
                  <a:cubicBezTo>
                    <a:pt x="245364" y="3862070"/>
                    <a:pt x="0" y="3616706"/>
                    <a:pt x="0" y="3314065"/>
                  </a:cubicBezTo>
                  <a:close/>
                </a:path>
              </a:pathLst>
            </a:custGeom>
            <a:solidFill>
              <a:srgbClr val="0A081B"/>
            </a:solidFill>
            <a:ln w="28597" cap="sq">
              <a:solidFill>
                <a:srgbClr val="37A7E7"/>
              </a:solidFill>
              <a:prstDash val="solid"/>
              <a:miter/>
            </a:ln>
          </p:spPr>
        </p:sp>
      </p:grpSp>
      <p:sp>
        <p:nvSpPr>
          <p:cNvPr name="TextBox 23" id="23"/>
          <p:cNvSpPr txBox="true"/>
          <p:nvPr/>
        </p:nvSpPr>
        <p:spPr>
          <a:xfrm rot="0">
            <a:off x="12317254" y="6122241"/>
            <a:ext cx="3014110" cy="394781"/>
          </a:xfrm>
          <a:prstGeom prst="rect">
            <a:avLst/>
          </a:prstGeom>
        </p:spPr>
        <p:txBody>
          <a:bodyPr anchor="t" rtlCol="false" tIns="0" lIns="0" bIns="0" rIns="0">
            <a:spAutoFit/>
          </a:bodyPr>
          <a:lstStyle/>
          <a:p>
            <a:pPr algn="l">
              <a:lnSpc>
                <a:spcPts val="3028"/>
              </a:lnSpc>
            </a:pPr>
            <a:r>
              <a:rPr lang="en-US" sz="2426" b="true">
                <a:solidFill>
                  <a:srgbClr val="000000"/>
                </a:solidFill>
                <a:latin typeface="Arimo Bold"/>
                <a:ea typeface="Arimo Bold"/>
                <a:cs typeface="Arimo Bold"/>
                <a:sym typeface="Arimo Bold"/>
              </a:rPr>
              <a:t>🤖</a:t>
            </a:r>
            <a:r>
              <a:rPr lang="en-US" sz="2426" b="true">
                <a:solidFill>
                  <a:srgbClr val="E0E4E6"/>
                </a:solidFill>
                <a:latin typeface="Arimo Bold"/>
                <a:ea typeface="Arimo Bold"/>
                <a:cs typeface="Arimo Bold"/>
                <a:sym typeface="Arimo Bold"/>
              </a:rPr>
              <a:t> Automation</a:t>
            </a:r>
          </a:p>
        </p:txBody>
      </p:sp>
      <p:sp>
        <p:nvSpPr>
          <p:cNvPr name="TextBox 24" id="24"/>
          <p:cNvSpPr txBox="true"/>
          <p:nvPr/>
        </p:nvSpPr>
        <p:spPr>
          <a:xfrm rot="0">
            <a:off x="12317254" y="6621085"/>
            <a:ext cx="4599737" cy="1721430"/>
          </a:xfrm>
          <a:prstGeom prst="rect">
            <a:avLst/>
          </a:prstGeom>
        </p:spPr>
        <p:txBody>
          <a:bodyPr anchor="t" rtlCol="false" tIns="0" lIns="0" bIns="0" rIns="0">
            <a:spAutoFit/>
          </a:bodyPr>
          <a:lstStyle/>
          <a:p>
            <a:pPr algn="l">
              <a:lnSpc>
                <a:spcPts val="3487"/>
              </a:lnSpc>
            </a:pPr>
            <a:r>
              <a:rPr lang="en-US" sz="2201">
                <a:solidFill>
                  <a:srgbClr val="E0E4E6"/>
                </a:solidFill>
                <a:latin typeface="Barlow"/>
                <a:ea typeface="Barlow"/>
                <a:cs typeface="Barlow"/>
                <a:sym typeface="Barlow"/>
              </a:rPr>
              <a:t>Fully autonomous sensing and actuation. The system detects, decides, and dispenses without any manual intervention.</a:t>
            </a:r>
          </a:p>
        </p:txBody>
      </p:sp>
      <p:sp>
        <p:nvSpPr>
          <p:cNvPr name="TextBox 25" id="25"/>
          <p:cNvSpPr txBox="true"/>
          <p:nvPr/>
        </p:nvSpPr>
        <p:spPr>
          <a:xfrm rot="0">
            <a:off x="1085031" y="8942984"/>
            <a:ext cx="17046864" cy="406980"/>
          </a:xfrm>
          <a:prstGeom prst="rect">
            <a:avLst/>
          </a:prstGeom>
        </p:spPr>
        <p:txBody>
          <a:bodyPr anchor="t" rtlCol="false" tIns="0" lIns="0" bIns="0" rIns="0">
            <a:spAutoFit/>
          </a:bodyPr>
          <a:lstStyle/>
          <a:p>
            <a:pPr algn="l">
              <a:lnSpc>
                <a:spcPts val="3487"/>
              </a:lnSpc>
            </a:pPr>
            <a:r>
              <a:rPr lang="en-US" sz="2201">
                <a:solidFill>
                  <a:srgbClr val="E0E4E6"/>
                </a:solidFill>
                <a:latin typeface="Barlow"/>
                <a:ea typeface="Barlow"/>
                <a:cs typeface="Barlow"/>
                <a:sym typeface="Barlow"/>
              </a:rPr>
              <a:t>Every component was selected to ensure reliable operation while maintaining a low-cost and easily reproducible design.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A081B">
                <a:alpha val="56078"/>
              </a:srgbClr>
            </a:solidFill>
          </p:spPr>
        </p:sp>
      </p:grpSp>
      <p:grpSp>
        <p:nvGrpSpPr>
          <p:cNvPr name="Group 6" id="6"/>
          <p:cNvGrpSpPr/>
          <p:nvPr/>
        </p:nvGrpSpPr>
        <p:grpSpPr>
          <a:xfrm rot="0">
            <a:off x="1092632" y="918839"/>
            <a:ext cx="2663952" cy="575224"/>
            <a:chOff x="0" y="0"/>
            <a:chExt cx="3551936" cy="766966"/>
          </a:xfrm>
        </p:grpSpPr>
        <p:sp>
          <p:nvSpPr>
            <p:cNvPr name="Freeform 7" id="7"/>
            <p:cNvSpPr/>
            <p:nvPr/>
          </p:nvSpPr>
          <p:spPr>
            <a:xfrm flipH="false" flipV="false" rot="0">
              <a:off x="0" y="0"/>
              <a:ext cx="3551936" cy="767080"/>
            </a:xfrm>
            <a:custGeom>
              <a:avLst/>
              <a:gdLst/>
              <a:ahLst/>
              <a:cxnLst/>
              <a:rect r="r" b="b" t="t" l="l"/>
              <a:pathLst>
                <a:path h="767080" w="3551936">
                  <a:moveTo>
                    <a:pt x="0" y="383540"/>
                  </a:moveTo>
                  <a:cubicBezTo>
                    <a:pt x="0" y="171704"/>
                    <a:pt x="171704" y="0"/>
                    <a:pt x="383540" y="0"/>
                  </a:cubicBezTo>
                  <a:lnTo>
                    <a:pt x="3168396" y="0"/>
                  </a:lnTo>
                  <a:cubicBezTo>
                    <a:pt x="3380232" y="0"/>
                    <a:pt x="3551936" y="171704"/>
                    <a:pt x="3551936" y="383540"/>
                  </a:cubicBezTo>
                  <a:cubicBezTo>
                    <a:pt x="3551936" y="595376"/>
                    <a:pt x="3380232" y="767080"/>
                    <a:pt x="3168396" y="767080"/>
                  </a:cubicBezTo>
                  <a:lnTo>
                    <a:pt x="383540" y="767080"/>
                  </a:lnTo>
                  <a:cubicBezTo>
                    <a:pt x="171704" y="766953"/>
                    <a:pt x="0" y="595249"/>
                    <a:pt x="0" y="383540"/>
                  </a:cubicBezTo>
                  <a:close/>
                </a:path>
              </a:pathLst>
            </a:custGeom>
            <a:blipFill>
              <a:blip r:embed="rId4">
                <a:alphaModFix amt="0"/>
              </a:blip>
              <a:stretch>
                <a:fillRect l="0" t="-40232" r="0" b="-40217"/>
              </a:stretch>
            </a:blipFill>
            <a:ln w="19065" cap="sq">
              <a:solidFill>
                <a:srgbClr val="16FFBB"/>
              </a:solidFill>
              <a:prstDash val="solid"/>
              <a:miter/>
            </a:ln>
          </p:spPr>
        </p:sp>
      </p:grpSp>
      <p:sp>
        <p:nvSpPr>
          <p:cNvPr name="TextBox 8" id="8"/>
          <p:cNvSpPr txBox="true"/>
          <p:nvPr/>
        </p:nvSpPr>
        <p:spPr>
          <a:xfrm rot="0">
            <a:off x="1286551" y="963425"/>
            <a:ext cx="3191208" cy="419376"/>
          </a:xfrm>
          <a:prstGeom prst="rect">
            <a:avLst/>
          </a:prstGeom>
        </p:spPr>
        <p:txBody>
          <a:bodyPr anchor="t" rtlCol="false" tIns="0" lIns="0" bIns="0" rIns="0">
            <a:spAutoFit/>
          </a:bodyPr>
          <a:lstStyle/>
          <a:p>
            <a:pPr algn="l">
              <a:lnSpc>
                <a:spcPts val="2755"/>
              </a:lnSpc>
            </a:pPr>
            <a:r>
              <a:rPr lang="en-US" sz="1726">
                <a:solidFill>
                  <a:srgbClr val="16FFBB"/>
                </a:solidFill>
                <a:latin typeface="Barlow"/>
                <a:ea typeface="Barlow"/>
                <a:cs typeface="Barlow"/>
                <a:sym typeface="Barlow"/>
              </a:rPr>
              <a:t>CHAPTER 2 · FEATURES</a:t>
            </a:r>
          </a:p>
        </p:txBody>
      </p:sp>
      <p:sp>
        <p:nvSpPr>
          <p:cNvPr name="TextBox 9" id="9"/>
          <p:cNvSpPr txBox="true"/>
          <p:nvPr/>
        </p:nvSpPr>
        <p:spPr>
          <a:xfrm rot="0">
            <a:off x="1102157" y="1556652"/>
            <a:ext cx="7038937" cy="803672"/>
          </a:xfrm>
          <a:prstGeom prst="rect">
            <a:avLst/>
          </a:prstGeom>
        </p:spPr>
        <p:txBody>
          <a:bodyPr anchor="t" rtlCol="false" tIns="0" lIns="0" bIns="0" rIns="0">
            <a:spAutoFit/>
          </a:bodyPr>
          <a:lstStyle/>
          <a:p>
            <a:pPr algn="l">
              <a:lnSpc>
                <a:spcPts val="5995"/>
              </a:lnSpc>
            </a:pPr>
            <a:r>
              <a:rPr lang="en-US" sz="4803" b="true">
                <a:solidFill>
                  <a:srgbClr val="F0FCFF"/>
                </a:solidFill>
                <a:latin typeface="Arimo Bold"/>
                <a:ea typeface="Arimo Bold"/>
                <a:cs typeface="Arimo Bold"/>
                <a:sym typeface="Arimo Bold"/>
              </a:rPr>
              <a:t>Product Features</a:t>
            </a:r>
          </a:p>
        </p:txBody>
      </p:sp>
      <p:grpSp>
        <p:nvGrpSpPr>
          <p:cNvPr name="Group 10" id="10"/>
          <p:cNvGrpSpPr/>
          <p:nvPr/>
        </p:nvGrpSpPr>
        <p:grpSpPr>
          <a:xfrm rot="0">
            <a:off x="1102157" y="2773642"/>
            <a:ext cx="2184216" cy="1349883"/>
            <a:chOff x="0" y="0"/>
            <a:chExt cx="2912288" cy="1799844"/>
          </a:xfrm>
        </p:grpSpPr>
        <p:sp>
          <p:nvSpPr>
            <p:cNvPr name="Freeform 11" id="11" descr="preencoded.png"/>
            <p:cNvSpPr/>
            <p:nvPr/>
          </p:nvSpPr>
          <p:spPr>
            <a:xfrm flipH="false" flipV="false" rot="0">
              <a:off x="0" y="0"/>
              <a:ext cx="2912237" cy="1799844"/>
            </a:xfrm>
            <a:custGeom>
              <a:avLst/>
              <a:gdLst/>
              <a:ahLst/>
              <a:cxnLst/>
              <a:rect r="r" b="b" t="t" l="l"/>
              <a:pathLst>
                <a:path h="1799844" w="2912237">
                  <a:moveTo>
                    <a:pt x="0" y="0"/>
                  </a:moveTo>
                  <a:lnTo>
                    <a:pt x="2912237" y="0"/>
                  </a:lnTo>
                  <a:lnTo>
                    <a:pt x="2912237" y="1799844"/>
                  </a:lnTo>
                  <a:lnTo>
                    <a:pt x="0" y="1799844"/>
                  </a:lnTo>
                  <a:lnTo>
                    <a:pt x="0" y="0"/>
                  </a:lnTo>
                  <a:close/>
                </a:path>
              </a:pathLst>
            </a:custGeom>
            <a:blipFill>
              <a:blip r:embed="rId5"/>
              <a:stretch>
                <a:fillRect l="0" t="-167" r="-1" b="-167"/>
              </a:stretch>
            </a:blipFill>
          </p:spPr>
        </p:sp>
      </p:grpSp>
      <p:sp>
        <p:nvSpPr>
          <p:cNvPr name="TextBox 12" id="12"/>
          <p:cNvSpPr txBox="true"/>
          <p:nvPr/>
        </p:nvSpPr>
        <p:spPr>
          <a:xfrm rot="0">
            <a:off x="1102157" y="4448842"/>
            <a:ext cx="3061926" cy="401841"/>
          </a:xfrm>
          <a:prstGeom prst="rect">
            <a:avLst/>
          </a:prstGeom>
        </p:spPr>
        <p:txBody>
          <a:bodyPr anchor="t" rtlCol="false" tIns="0" lIns="0" bIns="0" rIns="0">
            <a:spAutoFit/>
          </a:bodyPr>
          <a:lstStyle/>
          <a:p>
            <a:pPr algn="l">
              <a:lnSpc>
                <a:spcPts val="2997"/>
              </a:lnSpc>
            </a:pPr>
            <a:r>
              <a:rPr lang="en-US" sz="2401" b="true">
                <a:solidFill>
                  <a:srgbClr val="E0E4E6"/>
                </a:solidFill>
                <a:latin typeface="Arimo Bold"/>
                <a:ea typeface="Arimo Bold"/>
                <a:cs typeface="Arimo Bold"/>
                <a:sym typeface="Arimo Bold"/>
              </a:rPr>
              <a:t>Touchless Operation</a:t>
            </a:r>
          </a:p>
        </p:txBody>
      </p:sp>
      <p:sp>
        <p:nvSpPr>
          <p:cNvPr name="TextBox 13" id="13"/>
          <p:cNvSpPr txBox="true"/>
          <p:nvPr/>
        </p:nvSpPr>
        <p:spPr>
          <a:xfrm rot="0">
            <a:off x="1102157" y="4939808"/>
            <a:ext cx="3766118" cy="3162329"/>
          </a:xfrm>
          <a:prstGeom prst="rect">
            <a:avLst/>
          </a:prstGeom>
        </p:spPr>
        <p:txBody>
          <a:bodyPr anchor="t" rtlCol="false" tIns="0" lIns="0" bIns="0" rIns="0">
            <a:spAutoFit/>
          </a:bodyPr>
          <a:lstStyle/>
          <a:p>
            <a:pPr algn="l">
              <a:lnSpc>
                <a:spcPts val="3354"/>
              </a:lnSpc>
            </a:pPr>
            <a:r>
              <a:rPr lang="en-US" sz="2101">
                <a:solidFill>
                  <a:srgbClr val="E0E4E6"/>
                </a:solidFill>
                <a:latin typeface="Barlow"/>
                <a:ea typeface="Barlow"/>
                <a:cs typeface="Barlow"/>
                <a:sym typeface="Barlow"/>
              </a:rPr>
              <a:t>The HC-SR04 ultrasonic sensor continuously monitors the area near the dispenser and detects the presence of a user's hand with high accuracy, triggering the system without any physical contact.</a:t>
            </a:r>
          </a:p>
        </p:txBody>
      </p:sp>
      <p:grpSp>
        <p:nvGrpSpPr>
          <p:cNvPr name="Group 14" id="14"/>
          <p:cNvGrpSpPr/>
          <p:nvPr/>
        </p:nvGrpSpPr>
        <p:grpSpPr>
          <a:xfrm rot="0">
            <a:off x="5212632" y="2773642"/>
            <a:ext cx="2184216" cy="1349883"/>
            <a:chOff x="0" y="0"/>
            <a:chExt cx="2912288" cy="1799844"/>
          </a:xfrm>
        </p:grpSpPr>
        <p:sp>
          <p:nvSpPr>
            <p:cNvPr name="Freeform 15" id="15" descr="preencoded.png"/>
            <p:cNvSpPr/>
            <p:nvPr/>
          </p:nvSpPr>
          <p:spPr>
            <a:xfrm flipH="false" flipV="false" rot="0">
              <a:off x="0" y="0"/>
              <a:ext cx="2912237" cy="1799844"/>
            </a:xfrm>
            <a:custGeom>
              <a:avLst/>
              <a:gdLst/>
              <a:ahLst/>
              <a:cxnLst/>
              <a:rect r="r" b="b" t="t" l="l"/>
              <a:pathLst>
                <a:path h="1799844" w="2912237">
                  <a:moveTo>
                    <a:pt x="0" y="0"/>
                  </a:moveTo>
                  <a:lnTo>
                    <a:pt x="2912237" y="0"/>
                  </a:lnTo>
                  <a:lnTo>
                    <a:pt x="2912237" y="1799844"/>
                  </a:lnTo>
                  <a:lnTo>
                    <a:pt x="0" y="1799844"/>
                  </a:lnTo>
                  <a:lnTo>
                    <a:pt x="0" y="0"/>
                  </a:lnTo>
                  <a:close/>
                </a:path>
              </a:pathLst>
            </a:custGeom>
            <a:blipFill>
              <a:blip r:embed="rId6"/>
              <a:stretch>
                <a:fillRect l="0" t="-167" r="-1" b="-167"/>
              </a:stretch>
            </a:blipFill>
          </p:spPr>
        </p:sp>
      </p:grpSp>
      <p:sp>
        <p:nvSpPr>
          <p:cNvPr name="TextBox 16" id="16"/>
          <p:cNvSpPr txBox="true"/>
          <p:nvPr/>
        </p:nvSpPr>
        <p:spPr>
          <a:xfrm rot="0">
            <a:off x="5212632" y="4448842"/>
            <a:ext cx="3766118" cy="784622"/>
          </a:xfrm>
          <a:prstGeom prst="rect">
            <a:avLst/>
          </a:prstGeom>
        </p:spPr>
        <p:txBody>
          <a:bodyPr anchor="t" rtlCol="false" tIns="0" lIns="0" bIns="0" rIns="0">
            <a:spAutoFit/>
          </a:bodyPr>
          <a:lstStyle/>
          <a:p>
            <a:pPr algn="l">
              <a:lnSpc>
                <a:spcPts val="2997"/>
              </a:lnSpc>
            </a:pPr>
            <a:r>
              <a:rPr lang="en-US" sz="2401" b="true">
                <a:solidFill>
                  <a:srgbClr val="E0E4E6"/>
                </a:solidFill>
                <a:latin typeface="Arimo Bold"/>
                <a:ea typeface="Arimo Bold"/>
                <a:cs typeface="Arimo Bold"/>
                <a:sym typeface="Arimo Bold"/>
              </a:rPr>
              <a:t>Automated Water Dispensing</a:t>
            </a:r>
          </a:p>
        </p:txBody>
      </p:sp>
      <p:sp>
        <p:nvSpPr>
          <p:cNvPr name="TextBox 17" id="17"/>
          <p:cNvSpPr txBox="true"/>
          <p:nvPr/>
        </p:nvSpPr>
        <p:spPr>
          <a:xfrm rot="0">
            <a:off x="5212632" y="5322589"/>
            <a:ext cx="3766118" cy="3162329"/>
          </a:xfrm>
          <a:prstGeom prst="rect">
            <a:avLst/>
          </a:prstGeom>
        </p:spPr>
        <p:txBody>
          <a:bodyPr anchor="t" rtlCol="false" tIns="0" lIns="0" bIns="0" rIns="0">
            <a:spAutoFit/>
          </a:bodyPr>
          <a:lstStyle/>
          <a:p>
            <a:pPr algn="l">
              <a:lnSpc>
                <a:spcPts val="3354"/>
              </a:lnSpc>
            </a:pPr>
            <a:r>
              <a:rPr lang="en-US" sz="2101">
                <a:solidFill>
                  <a:srgbClr val="E0E4E6"/>
                </a:solidFill>
                <a:latin typeface="Barlow"/>
                <a:ea typeface="Barlow"/>
                <a:cs typeface="Barlow"/>
                <a:sym typeface="Barlow"/>
              </a:rPr>
              <a:t>Once a hand is detected, the SG90 servo motor automatically activates the dispensing mechanism and stops after the required duration, ensuring consistent and controlled water flow.</a:t>
            </a:r>
          </a:p>
        </p:txBody>
      </p:sp>
      <p:grpSp>
        <p:nvGrpSpPr>
          <p:cNvPr name="Group 18" id="18"/>
          <p:cNvGrpSpPr/>
          <p:nvPr/>
        </p:nvGrpSpPr>
        <p:grpSpPr>
          <a:xfrm rot="0">
            <a:off x="9323099" y="2773642"/>
            <a:ext cx="2184216" cy="1349883"/>
            <a:chOff x="0" y="0"/>
            <a:chExt cx="2912288" cy="1799844"/>
          </a:xfrm>
        </p:grpSpPr>
        <p:sp>
          <p:nvSpPr>
            <p:cNvPr name="Freeform 19" id="19" descr="preencoded.png"/>
            <p:cNvSpPr/>
            <p:nvPr/>
          </p:nvSpPr>
          <p:spPr>
            <a:xfrm flipH="false" flipV="false" rot="0">
              <a:off x="0" y="0"/>
              <a:ext cx="2912237" cy="1799844"/>
            </a:xfrm>
            <a:custGeom>
              <a:avLst/>
              <a:gdLst/>
              <a:ahLst/>
              <a:cxnLst/>
              <a:rect r="r" b="b" t="t" l="l"/>
              <a:pathLst>
                <a:path h="1799844" w="2912237">
                  <a:moveTo>
                    <a:pt x="0" y="0"/>
                  </a:moveTo>
                  <a:lnTo>
                    <a:pt x="2912237" y="0"/>
                  </a:lnTo>
                  <a:lnTo>
                    <a:pt x="2912237" y="1799844"/>
                  </a:lnTo>
                  <a:lnTo>
                    <a:pt x="0" y="1799844"/>
                  </a:lnTo>
                  <a:lnTo>
                    <a:pt x="0" y="0"/>
                  </a:lnTo>
                  <a:close/>
                </a:path>
              </a:pathLst>
            </a:custGeom>
            <a:blipFill>
              <a:blip r:embed="rId7"/>
              <a:stretch>
                <a:fillRect l="0" t="-167" r="-1" b="-167"/>
              </a:stretch>
            </a:blipFill>
          </p:spPr>
        </p:sp>
      </p:grpSp>
      <p:sp>
        <p:nvSpPr>
          <p:cNvPr name="TextBox 20" id="20"/>
          <p:cNvSpPr txBox="true"/>
          <p:nvPr/>
        </p:nvSpPr>
        <p:spPr>
          <a:xfrm rot="0">
            <a:off x="9323099" y="4448842"/>
            <a:ext cx="3531832" cy="401841"/>
          </a:xfrm>
          <a:prstGeom prst="rect">
            <a:avLst/>
          </a:prstGeom>
        </p:spPr>
        <p:txBody>
          <a:bodyPr anchor="t" rtlCol="false" tIns="0" lIns="0" bIns="0" rIns="0">
            <a:spAutoFit/>
          </a:bodyPr>
          <a:lstStyle/>
          <a:p>
            <a:pPr algn="l">
              <a:lnSpc>
                <a:spcPts val="2997"/>
              </a:lnSpc>
            </a:pPr>
            <a:r>
              <a:rPr lang="en-US" sz="2401" b="true">
                <a:solidFill>
                  <a:srgbClr val="E0E4E6"/>
                </a:solidFill>
                <a:latin typeface="Arimo Bold"/>
                <a:ea typeface="Arimo Bold"/>
                <a:cs typeface="Arimo Bold"/>
                <a:sym typeface="Arimo Bold"/>
              </a:rPr>
              <a:t>Real-Time LCD Feedback</a:t>
            </a:r>
          </a:p>
        </p:txBody>
      </p:sp>
      <p:sp>
        <p:nvSpPr>
          <p:cNvPr name="TextBox 21" id="21"/>
          <p:cNvSpPr txBox="true"/>
          <p:nvPr/>
        </p:nvSpPr>
        <p:spPr>
          <a:xfrm rot="0">
            <a:off x="9323099" y="4939808"/>
            <a:ext cx="3766118" cy="2721454"/>
          </a:xfrm>
          <a:prstGeom prst="rect">
            <a:avLst/>
          </a:prstGeom>
        </p:spPr>
        <p:txBody>
          <a:bodyPr anchor="t" rtlCol="false" tIns="0" lIns="0" bIns="0" rIns="0">
            <a:spAutoFit/>
          </a:bodyPr>
          <a:lstStyle/>
          <a:p>
            <a:pPr algn="l">
              <a:lnSpc>
                <a:spcPts val="3354"/>
              </a:lnSpc>
            </a:pPr>
            <a:r>
              <a:rPr lang="en-US" sz="2101">
                <a:solidFill>
                  <a:srgbClr val="E0E4E6"/>
                </a:solidFill>
                <a:latin typeface="Barlow"/>
                <a:ea typeface="Barlow"/>
                <a:cs typeface="Barlow"/>
                <a:sym typeface="Barlow"/>
              </a:rPr>
              <a:t>A 16×2 LCD provides system information including readiness status, dispensing activity, and user notifications, keeping users informed throughout the interaction.</a:t>
            </a:r>
          </a:p>
        </p:txBody>
      </p:sp>
      <p:grpSp>
        <p:nvGrpSpPr>
          <p:cNvPr name="Group 22" id="22"/>
          <p:cNvGrpSpPr/>
          <p:nvPr/>
        </p:nvGrpSpPr>
        <p:grpSpPr>
          <a:xfrm rot="0">
            <a:off x="13433565" y="2773642"/>
            <a:ext cx="2184216" cy="1349883"/>
            <a:chOff x="0" y="0"/>
            <a:chExt cx="2912288" cy="1799844"/>
          </a:xfrm>
        </p:grpSpPr>
        <p:sp>
          <p:nvSpPr>
            <p:cNvPr name="Freeform 23" id="23" descr="preencoded.png"/>
            <p:cNvSpPr/>
            <p:nvPr/>
          </p:nvSpPr>
          <p:spPr>
            <a:xfrm flipH="false" flipV="false" rot="0">
              <a:off x="0" y="0"/>
              <a:ext cx="2912237" cy="1799844"/>
            </a:xfrm>
            <a:custGeom>
              <a:avLst/>
              <a:gdLst/>
              <a:ahLst/>
              <a:cxnLst/>
              <a:rect r="r" b="b" t="t" l="l"/>
              <a:pathLst>
                <a:path h="1799844" w="2912237">
                  <a:moveTo>
                    <a:pt x="0" y="0"/>
                  </a:moveTo>
                  <a:lnTo>
                    <a:pt x="2912237" y="0"/>
                  </a:lnTo>
                  <a:lnTo>
                    <a:pt x="2912237" y="1799844"/>
                  </a:lnTo>
                  <a:lnTo>
                    <a:pt x="0" y="1799844"/>
                  </a:lnTo>
                  <a:lnTo>
                    <a:pt x="0" y="0"/>
                  </a:lnTo>
                  <a:close/>
                </a:path>
              </a:pathLst>
            </a:custGeom>
            <a:blipFill>
              <a:blip r:embed="rId8"/>
              <a:stretch>
                <a:fillRect l="0" t="-167" r="-1" b="-167"/>
              </a:stretch>
            </a:blipFill>
          </p:spPr>
        </p:sp>
      </p:grpSp>
      <p:sp>
        <p:nvSpPr>
          <p:cNvPr name="TextBox 24" id="24"/>
          <p:cNvSpPr txBox="true"/>
          <p:nvPr/>
        </p:nvSpPr>
        <p:spPr>
          <a:xfrm rot="0">
            <a:off x="13433565" y="4448842"/>
            <a:ext cx="3766118" cy="784622"/>
          </a:xfrm>
          <a:prstGeom prst="rect">
            <a:avLst/>
          </a:prstGeom>
        </p:spPr>
        <p:txBody>
          <a:bodyPr anchor="t" rtlCol="false" tIns="0" lIns="0" bIns="0" rIns="0">
            <a:spAutoFit/>
          </a:bodyPr>
          <a:lstStyle/>
          <a:p>
            <a:pPr algn="l">
              <a:lnSpc>
                <a:spcPts val="2997"/>
              </a:lnSpc>
            </a:pPr>
            <a:r>
              <a:rPr lang="en-US" sz="2401" b="true">
                <a:solidFill>
                  <a:srgbClr val="E0E4E6"/>
                </a:solidFill>
                <a:latin typeface="Arimo Bold"/>
                <a:ea typeface="Arimo Bold"/>
                <a:cs typeface="Arimo Bold"/>
                <a:sym typeface="Arimo Bold"/>
              </a:rPr>
              <a:t>Compact Embedded System</a:t>
            </a:r>
          </a:p>
        </p:txBody>
      </p:sp>
      <p:sp>
        <p:nvSpPr>
          <p:cNvPr name="TextBox 25" id="25"/>
          <p:cNvSpPr txBox="true"/>
          <p:nvPr/>
        </p:nvSpPr>
        <p:spPr>
          <a:xfrm rot="0">
            <a:off x="13433565" y="5322589"/>
            <a:ext cx="3766118" cy="4044077"/>
          </a:xfrm>
          <a:prstGeom prst="rect">
            <a:avLst/>
          </a:prstGeom>
        </p:spPr>
        <p:txBody>
          <a:bodyPr anchor="t" rtlCol="false" tIns="0" lIns="0" bIns="0" rIns="0">
            <a:spAutoFit/>
          </a:bodyPr>
          <a:lstStyle/>
          <a:p>
            <a:pPr algn="l">
              <a:lnSpc>
                <a:spcPts val="3354"/>
              </a:lnSpc>
            </a:pPr>
            <a:r>
              <a:rPr lang="en-US" sz="2101">
                <a:solidFill>
                  <a:srgbClr val="E0E4E6"/>
                </a:solidFill>
                <a:latin typeface="Barlow"/>
                <a:ea typeface="Barlow"/>
                <a:cs typeface="Barlow"/>
                <a:sym typeface="Barlow"/>
              </a:rPr>
              <a:t>The complete solution is built around the Arduino Uno platform, making the system simple, reliable, and easy to maintain. The design operates efficiently using a dedicated battery for the actuator and a separate control system for stable operation.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A081B">
                <a:alpha val="56078"/>
              </a:srgbClr>
            </a:solidFill>
          </p:spPr>
        </p:sp>
      </p:grpSp>
      <p:grpSp>
        <p:nvGrpSpPr>
          <p:cNvPr name="Group 6" id="6"/>
          <p:cNvGrpSpPr/>
          <p:nvPr/>
        </p:nvGrpSpPr>
        <p:grpSpPr>
          <a:xfrm rot="0">
            <a:off x="994181" y="441849"/>
            <a:ext cx="3169042" cy="570525"/>
            <a:chOff x="0" y="0"/>
            <a:chExt cx="2500020" cy="450080"/>
          </a:xfrm>
        </p:grpSpPr>
        <p:sp>
          <p:nvSpPr>
            <p:cNvPr name="Freeform 7" id="7"/>
            <p:cNvSpPr/>
            <p:nvPr/>
          </p:nvSpPr>
          <p:spPr>
            <a:xfrm flipH="false" flipV="false" rot="0">
              <a:off x="0" y="0"/>
              <a:ext cx="2499995" cy="450021"/>
            </a:xfrm>
            <a:custGeom>
              <a:avLst/>
              <a:gdLst/>
              <a:ahLst/>
              <a:cxnLst/>
              <a:rect r="r" b="b" t="t" l="l"/>
              <a:pathLst>
                <a:path h="450021" w="2499995">
                  <a:moveTo>
                    <a:pt x="0" y="225011"/>
                  </a:moveTo>
                  <a:cubicBezTo>
                    <a:pt x="0" y="100709"/>
                    <a:pt x="86741" y="0"/>
                    <a:pt x="193802" y="0"/>
                  </a:cubicBezTo>
                  <a:lnTo>
                    <a:pt x="2306193" y="0"/>
                  </a:lnTo>
                  <a:cubicBezTo>
                    <a:pt x="2413254" y="0"/>
                    <a:pt x="2499995" y="100709"/>
                    <a:pt x="2499995" y="225011"/>
                  </a:cubicBezTo>
                  <a:cubicBezTo>
                    <a:pt x="2499995" y="349312"/>
                    <a:pt x="2413254" y="450021"/>
                    <a:pt x="2306193" y="450021"/>
                  </a:cubicBezTo>
                  <a:lnTo>
                    <a:pt x="193802" y="450021"/>
                  </a:lnTo>
                  <a:cubicBezTo>
                    <a:pt x="86741" y="450021"/>
                    <a:pt x="0" y="349312"/>
                    <a:pt x="0" y="225011"/>
                  </a:cubicBezTo>
                  <a:close/>
                </a:path>
              </a:pathLst>
            </a:custGeom>
            <a:blipFill>
              <a:blip r:embed="rId4">
                <a:alphaModFix amt="0"/>
              </a:blip>
              <a:stretch>
                <a:fillRect l="0" t="-65175" r="-1" b="-51316"/>
              </a:stretch>
            </a:blipFill>
            <a:ln w="9532" cap="sq">
              <a:solidFill>
                <a:srgbClr val="16FFBB"/>
              </a:solidFill>
              <a:prstDash val="solid"/>
              <a:miter/>
            </a:ln>
          </p:spPr>
        </p:sp>
      </p:grpSp>
      <p:sp>
        <p:nvSpPr>
          <p:cNvPr name="TextBox 8" id="8"/>
          <p:cNvSpPr txBox="true"/>
          <p:nvPr/>
        </p:nvSpPr>
        <p:spPr>
          <a:xfrm rot="0">
            <a:off x="1121115" y="670538"/>
            <a:ext cx="2915174" cy="270427"/>
          </a:xfrm>
          <a:prstGeom prst="rect">
            <a:avLst/>
          </a:prstGeom>
        </p:spPr>
        <p:txBody>
          <a:bodyPr anchor="t" rtlCol="false" tIns="0" lIns="0" bIns="0" rIns="0">
            <a:spAutoFit/>
          </a:bodyPr>
          <a:lstStyle/>
          <a:p>
            <a:pPr algn="l">
              <a:lnSpc>
                <a:spcPts val="2131"/>
              </a:lnSpc>
            </a:pPr>
            <a:r>
              <a:rPr lang="en-US" sz="1675">
                <a:solidFill>
                  <a:srgbClr val="16FFBB"/>
                </a:solidFill>
                <a:latin typeface="Barlow"/>
                <a:ea typeface="Barlow"/>
                <a:cs typeface="Barlow"/>
                <a:sym typeface="Barlow"/>
              </a:rPr>
              <a:t>CHAPTER 2 · SYSTEM DESIGN</a:t>
            </a:r>
          </a:p>
        </p:txBody>
      </p:sp>
      <p:sp>
        <p:nvSpPr>
          <p:cNvPr name="TextBox 9" id="9"/>
          <p:cNvSpPr txBox="true"/>
          <p:nvPr/>
        </p:nvSpPr>
        <p:spPr>
          <a:xfrm rot="0">
            <a:off x="998944" y="1017165"/>
            <a:ext cx="4946028" cy="479431"/>
          </a:xfrm>
          <a:prstGeom prst="rect">
            <a:avLst/>
          </a:prstGeom>
        </p:spPr>
        <p:txBody>
          <a:bodyPr anchor="t" rtlCol="false" tIns="0" lIns="0" bIns="0" rIns="0">
            <a:spAutoFit/>
          </a:bodyPr>
          <a:lstStyle/>
          <a:p>
            <a:pPr algn="l">
              <a:lnSpc>
                <a:spcPts val="3465"/>
              </a:lnSpc>
            </a:pPr>
            <a:r>
              <a:rPr lang="en-US" sz="2777" b="true">
                <a:solidFill>
                  <a:srgbClr val="F0FCFF"/>
                </a:solidFill>
                <a:latin typeface="Arimo Bold"/>
                <a:ea typeface="Arimo Bold"/>
                <a:cs typeface="Arimo Bold"/>
                <a:sym typeface="Arimo Bold"/>
              </a:rPr>
              <a:t>Functional Architecture</a:t>
            </a:r>
          </a:p>
        </p:txBody>
      </p:sp>
      <p:sp>
        <p:nvSpPr>
          <p:cNvPr name="TextBox 10" id="10"/>
          <p:cNvSpPr txBox="true"/>
          <p:nvPr/>
        </p:nvSpPr>
        <p:spPr>
          <a:xfrm rot="0">
            <a:off x="998944" y="1620974"/>
            <a:ext cx="15649813" cy="270425"/>
          </a:xfrm>
          <a:prstGeom prst="rect">
            <a:avLst/>
          </a:prstGeom>
        </p:spPr>
        <p:txBody>
          <a:bodyPr anchor="t" rtlCol="false" tIns="0" lIns="0" bIns="0" rIns="0">
            <a:spAutoFit/>
          </a:bodyPr>
          <a:lstStyle/>
          <a:p>
            <a:pPr algn="l">
              <a:lnSpc>
                <a:spcPts val="2131"/>
              </a:lnSpc>
            </a:pPr>
            <a:r>
              <a:rPr lang="en-US" sz="1675">
                <a:solidFill>
                  <a:srgbClr val="E0E4E6"/>
                </a:solidFill>
                <a:latin typeface="Barlow"/>
                <a:ea typeface="Barlow"/>
                <a:cs typeface="Barlow"/>
                <a:sym typeface="Barlow"/>
              </a:rPr>
              <a:t>The Automatic Water Dispenser follows a clean </a:t>
            </a:r>
            <a:r>
              <a:rPr lang="en-US" sz="1675" b="true">
                <a:solidFill>
                  <a:srgbClr val="E0E4E6"/>
                </a:solidFill>
                <a:latin typeface="Barlow Bold"/>
                <a:ea typeface="Barlow Bold"/>
                <a:cs typeface="Barlow Bold"/>
                <a:sym typeface="Barlow Bold"/>
              </a:rPr>
              <a:t>input-process-output</a:t>
            </a:r>
            <a:r>
              <a:rPr lang="en-US" sz="1675">
                <a:solidFill>
                  <a:srgbClr val="E0E4E6"/>
                </a:solidFill>
                <a:latin typeface="Barlow"/>
                <a:ea typeface="Barlow"/>
                <a:cs typeface="Barlow"/>
                <a:sym typeface="Barlow"/>
              </a:rPr>
              <a:t> architecture. Each subsystem has a clearly defined role, ensuring predictable and reliable operation.</a:t>
            </a:r>
          </a:p>
        </p:txBody>
      </p:sp>
      <p:sp>
        <p:nvSpPr>
          <p:cNvPr name="Freeform 11" id="11" descr="preencoded.png"/>
          <p:cNvSpPr/>
          <p:nvPr/>
        </p:nvSpPr>
        <p:spPr>
          <a:xfrm flipH="false" flipV="false" rot="0">
            <a:off x="979884" y="1953854"/>
            <a:ext cx="8123225" cy="1057808"/>
          </a:xfrm>
          <a:custGeom>
            <a:avLst/>
            <a:gdLst/>
            <a:ahLst/>
            <a:cxnLst/>
            <a:rect r="r" b="b" t="t" l="l"/>
            <a:pathLst>
              <a:path h="1057808" w="8123225">
                <a:moveTo>
                  <a:pt x="0" y="0"/>
                </a:moveTo>
                <a:lnTo>
                  <a:pt x="8123225" y="0"/>
                </a:lnTo>
                <a:lnTo>
                  <a:pt x="8123225" y="1057808"/>
                </a:lnTo>
                <a:lnTo>
                  <a:pt x="0" y="1057808"/>
                </a:lnTo>
                <a:lnTo>
                  <a:pt x="0" y="0"/>
                </a:lnTo>
                <a:close/>
              </a:path>
            </a:pathLst>
          </a:custGeom>
          <a:blipFill>
            <a:blip r:embed="rId5">
              <a:extLst>
                <a:ext uri="{96DAC541-7B7A-43D3-8B79-37D633B846F1}">
                  <asvg:svgBlip xmlns:asvg="http://schemas.microsoft.com/office/drawing/2016/SVG/main" r:embed="rId6"/>
                </a:ext>
              </a:extLst>
            </a:blip>
            <a:stretch>
              <a:fillRect l="0" t="-356" r="0" b="-355"/>
            </a:stretch>
          </a:blipFill>
        </p:spPr>
      </p:sp>
      <p:sp>
        <p:nvSpPr>
          <p:cNvPr name="TextBox 12" id="12"/>
          <p:cNvSpPr txBox="true"/>
          <p:nvPr/>
        </p:nvSpPr>
        <p:spPr>
          <a:xfrm rot="0">
            <a:off x="1237402" y="2116074"/>
            <a:ext cx="2925821" cy="238804"/>
          </a:xfrm>
          <a:prstGeom prst="rect">
            <a:avLst/>
          </a:prstGeom>
        </p:spPr>
        <p:txBody>
          <a:bodyPr anchor="t" rtlCol="false" tIns="0" lIns="0" bIns="0" rIns="0">
            <a:spAutoFit/>
          </a:bodyPr>
          <a:lstStyle/>
          <a:p>
            <a:pPr algn="l">
              <a:lnSpc>
                <a:spcPts val="1810"/>
              </a:lnSpc>
            </a:pPr>
            <a:r>
              <a:rPr lang="en-US" sz="1451" b="true">
                <a:solidFill>
                  <a:srgbClr val="E0E4E6"/>
                </a:solidFill>
                <a:latin typeface="Arimo Bold"/>
                <a:ea typeface="Arimo Bold"/>
                <a:cs typeface="Arimo Bold"/>
                <a:sym typeface="Arimo Bold"/>
              </a:rPr>
              <a:t>Input — Ultrasonic Sensor</a:t>
            </a:r>
          </a:p>
        </p:txBody>
      </p:sp>
      <p:sp>
        <p:nvSpPr>
          <p:cNvPr name="TextBox 13" id="13"/>
          <p:cNvSpPr txBox="true"/>
          <p:nvPr/>
        </p:nvSpPr>
        <p:spPr>
          <a:xfrm rot="0">
            <a:off x="1237402" y="2398766"/>
            <a:ext cx="7684446" cy="481804"/>
          </a:xfrm>
          <a:prstGeom prst="rect">
            <a:avLst/>
          </a:prstGeom>
        </p:spPr>
        <p:txBody>
          <a:bodyPr anchor="t" rtlCol="false" tIns="0" lIns="0" bIns="0" rIns="0">
            <a:spAutoFit/>
          </a:bodyPr>
          <a:lstStyle/>
          <a:p>
            <a:pPr algn="l">
              <a:lnSpc>
                <a:spcPts val="1877"/>
              </a:lnSpc>
            </a:pPr>
            <a:r>
              <a:rPr lang="en-US" sz="1475">
                <a:solidFill>
                  <a:srgbClr val="E0E4E6"/>
                </a:solidFill>
                <a:latin typeface="Barlow"/>
                <a:ea typeface="Barlow"/>
                <a:cs typeface="Barlow"/>
                <a:sym typeface="Barlow"/>
              </a:rPr>
              <a:t>The HC-SR04 ultrasonic sensor acts as the input device and continuously measures distance to detect hand presence in the dispensing zone.</a:t>
            </a:r>
          </a:p>
        </p:txBody>
      </p:sp>
      <p:sp>
        <p:nvSpPr>
          <p:cNvPr name="Freeform 14" id="14" descr="preencoded.png"/>
          <p:cNvSpPr/>
          <p:nvPr/>
        </p:nvSpPr>
        <p:spPr>
          <a:xfrm flipH="false" flipV="false" rot="0">
            <a:off x="9179662" y="1953854"/>
            <a:ext cx="8418659" cy="1096280"/>
          </a:xfrm>
          <a:custGeom>
            <a:avLst/>
            <a:gdLst/>
            <a:ahLst/>
            <a:cxnLst/>
            <a:rect r="r" b="b" t="t" l="l"/>
            <a:pathLst>
              <a:path h="1096280" w="8418659">
                <a:moveTo>
                  <a:pt x="0" y="0"/>
                </a:moveTo>
                <a:lnTo>
                  <a:pt x="8418658" y="0"/>
                </a:lnTo>
                <a:lnTo>
                  <a:pt x="8418658" y="1096280"/>
                </a:lnTo>
                <a:lnTo>
                  <a:pt x="0" y="1096280"/>
                </a:lnTo>
                <a:lnTo>
                  <a:pt x="0" y="0"/>
                </a:lnTo>
                <a:close/>
              </a:path>
            </a:pathLst>
          </a:custGeom>
          <a:blipFill>
            <a:blip r:embed="rId7">
              <a:extLst>
                <a:ext uri="{96DAC541-7B7A-43D3-8B79-37D633B846F1}">
                  <asvg:svgBlip xmlns:asvg="http://schemas.microsoft.com/office/drawing/2016/SVG/main" r:embed="rId8"/>
                </a:ext>
              </a:extLst>
            </a:blip>
            <a:stretch>
              <a:fillRect l="0" t="-356" r="0" b="-355"/>
            </a:stretch>
          </a:blipFill>
        </p:spPr>
      </p:sp>
      <p:sp>
        <p:nvSpPr>
          <p:cNvPr name="TextBox 15" id="15"/>
          <p:cNvSpPr txBox="true"/>
          <p:nvPr/>
        </p:nvSpPr>
        <p:spPr>
          <a:xfrm rot="0">
            <a:off x="9437189" y="2116074"/>
            <a:ext cx="2191309" cy="238804"/>
          </a:xfrm>
          <a:prstGeom prst="rect">
            <a:avLst/>
          </a:prstGeom>
        </p:spPr>
        <p:txBody>
          <a:bodyPr anchor="t" rtlCol="false" tIns="0" lIns="0" bIns="0" rIns="0">
            <a:spAutoFit/>
          </a:bodyPr>
          <a:lstStyle/>
          <a:p>
            <a:pPr algn="l">
              <a:lnSpc>
                <a:spcPts val="1810"/>
              </a:lnSpc>
            </a:pPr>
            <a:r>
              <a:rPr lang="en-US" sz="1451" b="true">
                <a:solidFill>
                  <a:srgbClr val="E0E4E6"/>
                </a:solidFill>
                <a:latin typeface="Arimo Bold"/>
                <a:ea typeface="Arimo Bold"/>
                <a:cs typeface="Arimo Bold"/>
                <a:sym typeface="Arimo Bold"/>
              </a:rPr>
              <a:t>Process — Arduino Uno</a:t>
            </a:r>
          </a:p>
        </p:txBody>
      </p:sp>
      <p:sp>
        <p:nvSpPr>
          <p:cNvPr name="TextBox 16" id="16"/>
          <p:cNvSpPr txBox="true"/>
          <p:nvPr/>
        </p:nvSpPr>
        <p:spPr>
          <a:xfrm rot="0">
            <a:off x="9437189" y="2339545"/>
            <a:ext cx="7684446" cy="481804"/>
          </a:xfrm>
          <a:prstGeom prst="rect">
            <a:avLst/>
          </a:prstGeom>
        </p:spPr>
        <p:txBody>
          <a:bodyPr anchor="t" rtlCol="false" tIns="0" lIns="0" bIns="0" rIns="0">
            <a:spAutoFit/>
          </a:bodyPr>
          <a:lstStyle/>
          <a:p>
            <a:pPr algn="l">
              <a:lnSpc>
                <a:spcPts val="1877"/>
              </a:lnSpc>
            </a:pPr>
            <a:r>
              <a:rPr lang="en-US" sz="1475">
                <a:solidFill>
                  <a:srgbClr val="E0E4E6"/>
                </a:solidFill>
                <a:latin typeface="Barlow"/>
                <a:ea typeface="Barlow"/>
                <a:cs typeface="Barlow"/>
                <a:sym typeface="Barlow"/>
              </a:rPr>
              <a:t>The Arduino Uno functions as the central controller, processing sensor data and making real-time control decisions based on predefined thresholds.</a:t>
            </a:r>
          </a:p>
        </p:txBody>
      </p:sp>
      <p:sp>
        <p:nvSpPr>
          <p:cNvPr name="Freeform 17" id="17" descr="preencoded.png"/>
          <p:cNvSpPr/>
          <p:nvPr/>
        </p:nvSpPr>
        <p:spPr>
          <a:xfrm flipH="false" flipV="false" rot="0">
            <a:off x="979884" y="3107284"/>
            <a:ext cx="8123225" cy="1057808"/>
          </a:xfrm>
          <a:custGeom>
            <a:avLst/>
            <a:gdLst/>
            <a:ahLst/>
            <a:cxnLst/>
            <a:rect r="r" b="b" t="t" l="l"/>
            <a:pathLst>
              <a:path h="1057808" w="8123225">
                <a:moveTo>
                  <a:pt x="0" y="0"/>
                </a:moveTo>
                <a:lnTo>
                  <a:pt x="8123225" y="0"/>
                </a:lnTo>
                <a:lnTo>
                  <a:pt x="8123225" y="1057808"/>
                </a:lnTo>
                <a:lnTo>
                  <a:pt x="0" y="1057808"/>
                </a:lnTo>
                <a:lnTo>
                  <a:pt x="0" y="0"/>
                </a:lnTo>
                <a:close/>
              </a:path>
            </a:pathLst>
          </a:custGeom>
          <a:blipFill>
            <a:blip r:embed="rId9">
              <a:extLst>
                <a:ext uri="{96DAC541-7B7A-43D3-8B79-37D633B846F1}">
                  <asvg:svgBlip xmlns:asvg="http://schemas.microsoft.com/office/drawing/2016/SVG/main" r:embed="rId10"/>
                </a:ext>
              </a:extLst>
            </a:blip>
            <a:stretch>
              <a:fillRect l="0" t="-356" r="0" b="-355"/>
            </a:stretch>
          </a:blipFill>
        </p:spPr>
      </p:sp>
      <p:sp>
        <p:nvSpPr>
          <p:cNvPr name="TextBox 18" id="18"/>
          <p:cNvSpPr txBox="true"/>
          <p:nvPr/>
        </p:nvSpPr>
        <p:spPr>
          <a:xfrm rot="0">
            <a:off x="1237402" y="3269494"/>
            <a:ext cx="2480310" cy="238804"/>
          </a:xfrm>
          <a:prstGeom prst="rect">
            <a:avLst/>
          </a:prstGeom>
        </p:spPr>
        <p:txBody>
          <a:bodyPr anchor="t" rtlCol="false" tIns="0" lIns="0" bIns="0" rIns="0">
            <a:spAutoFit/>
          </a:bodyPr>
          <a:lstStyle/>
          <a:p>
            <a:pPr algn="l">
              <a:lnSpc>
                <a:spcPts val="1810"/>
              </a:lnSpc>
            </a:pPr>
            <a:r>
              <a:rPr lang="en-US" sz="1451" b="true">
                <a:solidFill>
                  <a:srgbClr val="E0E4E6"/>
                </a:solidFill>
                <a:latin typeface="Arimo Bold"/>
                <a:ea typeface="Arimo Bold"/>
                <a:cs typeface="Arimo Bold"/>
                <a:sym typeface="Arimo Bold"/>
              </a:rPr>
              <a:t>Output — Servo Motor</a:t>
            </a:r>
          </a:p>
        </p:txBody>
      </p:sp>
      <p:sp>
        <p:nvSpPr>
          <p:cNvPr name="TextBox 19" id="19"/>
          <p:cNvSpPr txBox="true"/>
          <p:nvPr/>
        </p:nvSpPr>
        <p:spPr>
          <a:xfrm rot="0">
            <a:off x="1237402" y="3552196"/>
            <a:ext cx="7684446" cy="481804"/>
          </a:xfrm>
          <a:prstGeom prst="rect">
            <a:avLst/>
          </a:prstGeom>
        </p:spPr>
        <p:txBody>
          <a:bodyPr anchor="t" rtlCol="false" tIns="0" lIns="0" bIns="0" rIns="0">
            <a:spAutoFit/>
          </a:bodyPr>
          <a:lstStyle/>
          <a:p>
            <a:pPr algn="l">
              <a:lnSpc>
                <a:spcPts val="1877"/>
              </a:lnSpc>
            </a:pPr>
            <a:r>
              <a:rPr lang="en-US" sz="1475">
                <a:solidFill>
                  <a:srgbClr val="E0E4E6"/>
                </a:solidFill>
                <a:latin typeface="Barlow"/>
                <a:ea typeface="Barlow"/>
                <a:cs typeface="Barlow"/>
                <a:sym typeface="Barlow"/>
              </a:rPr>
              <a:t>The SG90 servo motor acts as the output actuator responsible for opening and closing the water dispensing mechanism with precise angular control.</a:t>
            </a:r>
          </a:p>
        </p:txBody>
      </p:sp>
      <p:sp>
        <p:nvSpPr>
          <p:cNvPr name="Freeform 20" id="20" descr="preencoded.png"/>
          <p:cNvSpPr/>
          <p:nvPr/>
        </p:nvSpPr>
        <p:spPr>
          <a:xfrm flipH="false" flipV="false" rot="0">
            <a:off x="9179662" y="3107284"/>
            <a:ext cx="8123225" cy="1057808"/>
          </a:xfrm>
          <a:custGeom>
            <a:avLst/>
            <a:gdLst/>
            <a:ahLst/>
            <a:cxnLst/>
            <a:rect r="r" b="b" t="t" l="l"/>
            <a:pathLst>
              <a:path h="1057808" w="8123225">
                <a:moveTo>
                  <a:pt x="0" y="0"/>
                </a:moveTo>
                <a:lnTo>
                  <a:pt x="8123224" y="0"/>
                </a:lnTo>
                <a:lnTo>
                  <a:pt x="8123224" y="1057808"/>
                </a:lnTo>
                <a:lnTo>
                  <a:pt x="0" y="1057808"/>
                </a:lnTo>
                <a:lnTo>
                  <a:pt x="0" y="0"/>
                </a:lnTo>
                <a:close/>
              </a:path>
            </a:pathLst>
          </a:custGeom>
          <a:blipFill>
            <a:blip r:embed="rId11">
              <a:extLst>
                <a:ext uri="{96DAC541-7B7A-43D3-8B79-37D633B846F1}">
                  <asvg:svgBlip xmlns:asvg="http://schemas.microsoft.com/office/drawing/2016/SVG/main" r:embed="rId12"/>
                </a:ext>
              </a:extLst>
            </a:blip>
            <a:stretch>
              <a:fillRect l="0" t="-356" r="0" b="-355"/>
            </a:stretch>
          </a:blipFill>
        </p:spPr>
      </p:sp>
      <p:sp>
        <p:nvSpPr>
          <p:cNvPr name="TextBox 21" id="21"/>
          <p:cNvSpPr txBox="true"/>
          <p:nvPr/>
        </p:nvSpPr>
        <p:spPr>
          <a:xfrm rot="0">
            <a:off x="9437189" y="3269494"/>
            <a:ext cx="2408779" cy="238804"/>
          </a:xfrm>
          <a:prstGeom prst="rect">
            <a:avLst/>
          </a:prstGeom>
        </p:spPr>
        <p:txBody>
          <a:bodyPr anchor="t" rtlCol="false" tIns="0" lIns="0" bIns="0" rIns="0">
            <a:spAutoFit/>
          </a:bodyPr>
          <a:lstStyle/>
          <a:p>
            <a:pPr algn="l">
              <a:lnSpc>
                <a:spcPts val="1810"/>
              </a:lnSpc>
            </a:pPr>
            <a:r>
              <a:rPr lang="en-US" sz="1451" b="true">
                <a:solidFill>
                  <a:srgbClr val="E0E4E6"/>
                </a:solidFill>
                <a:latin typeface="Arimo Bold"/>
                <a:ea typeface="Arimo Bold"/>
                <a:cs typeface="Arimo Bold"/>
                <a:sym typeface="Arimo Bold"/>
              </a:rPr>
              <a:t>Interface — LCD Display</a:t>
            </a:r>
          </a:p>
        </p:txBody>
      </p:sp>
      <p:sp>
        <p:nvSpPr>
          <p:cNvPr name="TextBox 22" id="22"/>
          <p:cNvSpPr txBox="true"/>
          <p:nvPr/>
        </p:nvSpPr>
        <p:spPr>
          <a:xfrm rot="0">
            <a:off x="9437189" y="3552196"/>
            <a:ext cx="7684446" cy="481804"/>
          </a:xfrm>
          <a:prstGeom prst="rect">
            <a:avLst/>
          </a:prstGeom>
        </p:spPr>
        <p:txBody>
          <a:bodyPr anchor="t" rtlCol="false" tIns="0" lIns="0" bIns="0" rIns="0">
            <a:spAutoFit/>
          </a:bodyPr>
          <a:lstStyle/>
          <a:p>
            <a:pPr algn="l">
              <a:lnSpc>
                <a:spcPts val="1877"/>
              </a:lnSpc>
            </a:pPr>
            <a:r>
              <a:rPr lang="en-US" sz="1475">
                <a:solidFill>
                  <a:srgbClr val="E0E4E6"/>
                </a:solidFill>
                <a:latin typeface="Barlow"/>
                <a:ea typeface="Barlow"/>
                <a:cs typeface="Barlow"/>
                <a:sym typeface="Barlow"/>
              </a:rPr>
              <a:t>The 16×2 LCD module serves as the user interface by displaying operational messages and real-time system status to the user.</a:t>
            </a:r>
          </a:p>
        </p:txBody>
      </p:sp>
      <p:sp>
        <p:nvSpPr>
          <p:cNvPr name="TextBox 23" id="23"/>
          <p:cNvSpPr txBox="true"/>
          <p:nvPr/>
        </p:nvSpPr>
        <p:spPr>
          <a:xfrm rot="0">
            <a:off x="998944" y="4289469"/>
            <a:ext cx="2718768" cy="247720"/>
          </a:xfrm>
          <a:prstGeom prst="rect">
            <a:avLst/>
          </a:prstGeom>
        </p:spPr>
        <p:txBody>
          <a:bodyPr anchor="t" rtlCol="false" tIns="0" lIns="0" bIns="0" rIns="0">
            <a:spAutoFit/>
          </a:bodyPr>
          <a:lstStyle/>
          <a:p>
            <a:pPr algn="l">
              <a:lnSpc>
                <a:spcPts val="1935"/>
              </a:lnSpc>
            </a:pPr>
            <a:r>
              <a:rPr lang="en-US" sz="1551" b="true">
                <a:solidFill>
                  <a:srgbClr val="F0FCFF"/>
                </a:solidFill>
                <a:latin typeface="Arimo Bold"/>
                <a:ea typeface="Arimo Bold"/>
                <a:cs typeface="Arimo Bold"/>
                <a:sym typeface="Arimo Bold"/>
              </a:rPr>
              <a:t>System Flow</a:t>
            </a:r>
          </a:p>
        </p:txBody>
      </p:sp>
      <p:grpSp>
        <p:nvGrpSpPr>
          <p:cNvPr name="Group 24" id="24"/>
          <p:cNvGrpSpPr/>
          <p:nvPr/>
        </p:nvGrpSpPr>
        <p:grpSpPr>
          <a:xfrm rot="0">
            <a:off x="3852205" y="4677299"/>
            <a:ext cx="10597429" cy="4577515"/>
            <a:chOff x="0" y="0"/>
            <a:chExt cx="14129906" cy="6103353"/>
          </a:xfrm>
        </p:grpSpPr>
        <p:sp>
          <p:nvSpPr>
            <p:cNvPr name="Freeform 25" id="25" descr="preencoded.png"/>
            <p:cNvSpPr/>
            <p:nvPr/>
          </p:nvSpPr>
          <p:spPr>
            <a:xfrm flipH="false" flipV="false" rot="0">
              <a:off x="0" y="0"/>
              <a:ext cx="14129893" cy="6103366"/>
            </a:xfrm>
            <a:custGeom>
              <a:avLst/>
              <a:gdLst/>
              <a:ahLst/>
              <a:cxnLst/>
              <a:rect r="r" b="b" t="t" l="l"/>
              <a:pathLst>
                <a:path h="6103366" w="14129893">
                  <a:moveTo>
                    <a:pt x="0" y="0"/>
                  </a:moveTo>
                  <a:lnTo>
                    <a:pt x="14129893" y="0"/>
                  </a:lnTo>
                  <a:lnTo>
                    <a:pt x="14129893" y="6103366"/>
                  </a:lnTo>
                  <a:lnTo>
                    <a:pt x="0" y="6103366"/>
                  </a:lnTo>
                  <a:lnTo>
                    <a:pt x="0" y="0"/>
                  </a:lnTo>
                  <a:close/>
                </a:path>
              </a:pathLst>
            </a:custGeom>
            <a:blipFill>
              <a:blip r:embed="rId13"/>
              <a:stretch>
                <a:fillRect l="-33" t="0" r="-33" b="0"/>
              </a:stretch>
            </a:blipFill>
          </p:spPr>
        </p:sp>
      </p:grpSp>
      <p:sp>
        <p:nvSpPr>
          <p:cNvPr name="TextBox 26" id="26"/>
          <p:cNvSpPr txBox="true"/>
          <p:nvPr/>
        </p:nvSpPr>
        <p:spPr>
          <a:xfrm rot="0">
            <a:off x="6381083" y="7865697"/>
            <a:ext cx="1573492" cy="528542"/>
          </a:xfrm>
          <a:prstGeom prst="rect">
            <a:avLst/>
          </a:prstGeom>
        </p:spPr>
        <p:txBody>
          <a:bodyPr anchor="t" rtlCol="false" tIns="0" lIns="0" bIns="0" rIns="0">
            <a:spAutoFit/>
          </a:bodyPr>
          <a:lstStyle/>
          <a:p>
            <a:pPr algn="ctr">
              <a:lnSpc>
                <a:spcPts val="1967"/>
              </a:lnSpc>
            </a:pPr>
            <a:r>
              <a:rPr lang="en-US" sz="1576" b="true">
                <a:solidFill>
                  <a:srgbClr val="E0E4E6"/>
                </a:solidFill>
                <a:latin typeface="Arimo Bold"/>
                <a:ea typeface="Arimo Bold"/>
                <a:cs typeface="Arimo Bold"/>
                <a:sym typeface="Arimo Bold"/>
              </a:rPr>
              <a:t>Signal Processing</a:t>
            </a:r>
          </a:p>
        </p:txBody>
      </p:sp>
      <p:sp>
        <p:nvSpPr>
          <p:cNvPr name="TextBox 27" id="27"/>
          <p:cNvSpPr txBox="true"/>
          <p:nvPr/>
        </p:nvSpPr>
        <p:spPr>
          <a:xfrm rot="0">
            <a:off x="6381083" y="8494814"/>
            <a:ext cx="1573492" cy="345234"/>
          </a:xfrm>
          <a:prstGeom prst="rect">
            <a:avLst/>
          </a:prstGeom>
        </p:spPr>
        <p:txBody>
          <a:bodyPr anchor="t" rtlCol="false" tIns="0" lIns="0" bIns="0" rIns="0">
            <a:spAutoFit/>
          </a:bodyPr>
          <a:lstStyle/>
          <a:p>
            <a:pPr algn="ctr">
              <a:lnSpc>
                <a:spcPts val="1420"/>
              </a:lnSpc>
            </a:pPr>
            <a:r>
              <a:rPr lang="en-US" sz="1426">
                <a:solidFill>
                  <a:srgbClr val="E0E4E6"/>
                </a:solidFill>
                <a:latin typeface="Barlow"/>
                <a:ea typeface="Barlow"/>
                <a:cs typeface="Barlow"/>
                <a:sym typeface="Barlow"/>
              </a:rPr>
              <a:t>Filter and interpret sensor data</a:t>
            </a:r>
          </a:p>
        </p:txBody>
      </p:sp>
      <p:sp>
        <p:nvSpPr>
          <p:cNvPr name="TextBox 28" id="28"/>
          <p:cNvSpPr txBox="true"/>
          <p:nvPr/>
        </p:nvSpPr>
        <p:spPr>
          <a:xfrm rot="0">
            <a:off x="10421417" y="7865697"/>
            <a:ext cx="1573492" cy="528542"/>
          </a:xfrm>
          <a:prstGeom prst="rect">
            <a:avLst/>
          </a:prstGeom>
        </p:spPr>
        <p:txBody>
          <a:bodyPr anchor="t" rtlCol="false" tIns="0" lIns="0" bIns="0" rIns="0">
            <a:spAutoFit/>
          </a:bodyPr>
          <a:lstStyle/>
          <a:p>
            <a:pPr algn="ctr">
              <a:lnSpc>
                <a:spcPts val="1967"/>
              </a:lnSpc>
            </a:pPr>
            <a:r>
              <a:rPr lang="en-US" sz="1576" b="true">
                <a:solidFill>
                  <a:srgbClr val="F0FCFF"/>
                </a:solidFill>
                <a:latin typeface="Arimo Bold"/>
                <a:ea typeface="Arimo Bold"/>
                <a:cs typeface="Arimo Bold"/>
                <a:sym typeface="Arimo Bold"/>
              </a:rPr>
              <a:t>Water Dispensing</a:t>
            </a:r>
          </a:p>
        </p:txBody>
      </p:sp>
      <p:sp>
        <p:nvSpPr>
          <p:cNvPr name="TextBox 29" id="29"/>
          <p:cNvSpPr txBox="true"/>
          <p:nvPr/>
        </p:nvSpPr>
        <p:spPr>
          <a:xfrm rot="0">
            <a:off x="10421417" y="8494814"/>
            <a:ext cx="1573492" cy="345234"/>
          </a:xfrm>
          <a:prstGeom prst="rect">
            <a:avLst/>
          </a:prstGeom>
        </p:spPr>
        <p:txBody>
          <a:bodyPr anchor="t" rtlCol="false" tIns="0" lIns="0" bIns="0" rIns="0">
            <a:spAutoFit/>
          </a:bodyPr>
          <a:lstStyle/>
          <a:p>
            <a:pPr algn="ctr">
              <a:lnSpc>
                <a:spcPts val="1420"/>
              </a:lnSpc>
            </a:pPr>
            <a:r>
              <a:rPr lang="en-US" sz="1426">
                <a:solidFill>
                  <a:srgbClr val="E0E4E6"/>
                </a:solidFill>
                <a:latin typeface="Barlow"/>
                <a:ea typeface="Barlow"/>
                <a:cs typeface="Barlow"/>
                <a:sym typeface="Barlow"/>
              </a:rPr>
              <a:t>Control valve to release water</a:t>
            </a:r>
          </a:p>
        </p:txBody>
      </p:sp>
      <p:sp>
        <p:nvSpPr>
          <p:cNvPr name="TextBox 30" id="30"/>
          <p:cNvSpPr txBox="true"/>
          <p:nvPr/>
        </p:nvSpPr>
        <p:spPr>
          <a:xfrm rot="0">
            <a:off x="4365936" y="5071300"/>
            <a:ext cx="1573492" cy="273796"/>
          </a:xfrm>
          <a:prstGeom prst="rect">
            <a:avLst/>
          </a:prstGeom>
        </p:spPr>
        <p:txBody>
          <a:bodyPr anchor="t" rtlCol="false" tIns="0" lIns="0" bIns="0" rIns="0">
            <a:spAutoFit/>
          </a:bodyPr>
          <a:lstStyle/>
          <a:p>
            <a:pPr algn="ctr">
              <a:lnSpc>
                <a:spcPts val="1967"/>
              </a:lnSpc>
            </a:pPr>
            <a:r>
              <a:rPr lang="en-US" sz="1576" b="true">
                <a:solidFill>
                  <a:srgbClr val="E0E4E6"/>
                </a:solidFill>
                <a:latin typeface="Arimo Bold"/>
                <a:ea typeface="Arimo Bold"/>
                <a:cs typeface="Arimo Bold"/>
                <a:sym typeface="Arimo Bold"/>
              </a:rPr>
              <a:t>Hand Detection</a:t>
            </a:r>
          </a:p>
        </p:txBody>
      </p:sp>
      <p:sp>
        <p:nvSpPr>
          <p:cNvPr name="TextBox 31" id="31"/>
          <p:cNvSpPr txBox="true"/>
          <p:nvPr/>
        </p:nvSpPr>
        <p:spPr>
          <a:xfrm rot="0">
            <a:off x="4365936" y="5445662"/>
            <a:ext cx="1573492" cy="345234"/>
          </a:xfrm>
          <a:prstGeom prst="rect">
            <a:avLst/>
          </a:prstGeom>
        </p:spPr>
        <p:txBody>
          <a:bodyPr anchor="t" rtlCol="false" tIns="0" lIns="0" bIns="0" rIns="0">
            <a:spAutoFit/>
          </a:bodyPr>
          <a:lstStyle/>
          <a:p>
            <a:pPr algn="ctr">
              <a:lnSpc>
                <a:spcPts val="1420"/>
              </a:lnSpc>
            </a:pPr>
            <a:r>
              <a:rPr lang="en-US" sz="1426">
                <a:solidFill>
                  <a:srgbClr val="E0E4E6"/>
                </a:solidFill>
                <a:latin typeface="Barlow"/>
                <a:ea typeface="Barlow"/>
                <a:cs typeface="Barlow"/>
                <a:sym typeface="Barlow"/>
              </a:rPr>
              <a:t>Ultrasonic sensor detects presence</a:t>
            </a:r>
          </a:p>
        </p:txBody>
      </p:sp>
      <p:sp>
        <p:nvSpPr>
          <p:cNvPr name="TextBox 32" id="32"/>
          <p:cNvSpPr txBox="true"/>
          <p:nvPr/>
        </p:nvSpPr>
        <p:spPr>
          <a:xfrm rot="0">
            <a:off x="12376537" y="5071300"/>
            <a:ext cx="1573492" cy="273796"/>
          </a:xfrm>
          <a:prstGeom prst="rect">
            <a:avLst/>
          </a:prstGeom>
        </p:spPr>
        <p:txBody>
          <a:bodyPr anchor="t" rtlCol="false" tIns="0" lIns="0" bIns="0" rIns="0">
            <a:spAutoFit/>
          </a:bodyPr>
          <a:lstStyle/>
          <a:p>
            <a:pPr algn="ctr">
              <a:lnSpc>
                <a:spcPts val="1967"/>
              </a:lnSpc>
            </a:pPr>
            <a:r>
              <a:rPr lang="en-US" sz="1576" b="true">
                <a:solidFill>
                  <a:srgbClr val="E0E4E6"/>
                </a:solidFill>
                <a:latin typeface="Arimo Bold"/>
                <a:ea typeface="Arimo Bold"/>
                <a:cs typeface="Arimo Bold"/>
                <a:sym typeface="Arimo Bold"/>
              </a:rPr>
              <a:t>User Feedback</a:t>
            </a:r>
          </a:p>
        </p:txBody>
      </p:sp>
      <p:sp>
        <p:nvSpPr>
          <p:cNvPr name="TextBox 33" id="33"/>
          <p:cNvSpPr txBox="true"/>
          <p:nvPr/>
        </p:nvSpPr>
        <p:spPr>
          <a:xfrm rot="0">
            <a:off x="12376537" y="5445662"/>
            <a:ext cx="1573492" cy="345234"/>
          </a:xfrm>
          <a:prstGeom prst="rect">
            <a:avLst/>
          </a:prstGeom>
        </p:spPr>
        <p:txBody>
          <a:bodyPr anchor="t" rtlCol="false" tIns="0" lIns="0" bIns="0" rIns="0">
            <a:spAutoFit/>
          </a:bodyPr>
          <a:lstStyle/>
          <a:p>
            <a:pPr algn="ctr">
              <a:lnSpc>
                <a:spcPts val="1420"/>
              </a:lnSpc>
            </a:pPr>
            <a:r>
              <a:rPr lang="en-US" sz="1426">
                <a:solidFill>
                  <a:srgbClr val="E0E4E6"/>
                </a:solidFill>
                <a:latin typeface="Barlow"/>
                <a:ea typeface="Barlow"/>
                <a:cs typeface="Barlow"/>
                <a:sym typeface="Barlow"/>
              </a:rPr>
              <a:t>LEDs or sound confirm action</a:t>
            </a:r>
          </a:p>
        </p:txBody>
      </p:sp>
      <p:sp>
        <p:nvSpPr>
          <p:cNvPr name="TextBox 34" id="34"/>
          <p:cNvSpPr txBox="true"/>
          <p:nvPr/>
        </p:nvSpPr>
        <p:spPr>
          <a:xfrm rot="0">
            <a:off x="8426329" y="5071300"/>
            <a:ext cx="1573492" cy="528542"/>
          </a:xfrm>
          <a:prstGeom prst="rect">
            <a:avLst/>
          </a:prstGeom>
        </p:spPr>
        <p:txBody>
          <a:bodyPr anchor="t" rtlCol="false" tIns="0" lIns="0" bIns="0" rIns="0">
            <a:spAutoFit/>
          </a:bodyPr>
          <a:lstStyle/>
          <a:p>
            <a:pPr algn="ctr">
              <a:lnSpc>
                <a:spcPts val="1967"/>
              </a:lnSpc>
            </a:pPr>
            <a:r>
              <a:rPr lang="en-US" sz="1576" b="true">
                <a:solidFill>
                  <a:srgbClr val="F0FCFF"/>
                </a:solidFill>
                <a:latin typeface="Arimo Bold"/>
                <a:ea typeface="Arimo Bold"/>
                <a:cs typeface="Arimo Bold"/>
                <a:sym typeface="Arimo Bold"/>
              </a:rPr>
              <a:t>Servo Activation</a:t>
            </a:r>
          </a:p>
        </p:txBody>
      </p:sp>
      <p:sp>
        <p:nvSpPr>
          <p:cNvPr name="TextBox 35" id="35"/>
          <p:cNvSpPr txBox="true"/>
          <p:nvPr/>
        </p:nvSpPr>
        <p:spPr>
          <a:xfrm rot="0">
            <a:off x="8426329" y="5700408"/>
            <a:ext cx="1573492" cy="345234"/>
          </a:xfrm>
          <a:prstGeom prst="rect">
            <a:avLst/>
          </a:prstGeom>
        </p:spPr>
        <p:txBody>
          <a:bodyPr anchor="t" rtlCol="false" tIns="0" lIns="0" bIns="0" rIns="0">
            <a:spAutoFit/>
          </a:bodyPr>
          <a:lstStyle/>
          <a:p>
            <a:pPr algn="ctr">
              <a:lnSpc>
                <a:spcPts val="1420"/>
              </a:lnSpc>
            </a:pPr>
            <a:r>
              <a:rPr lang="en-US" sz="1426">
                <a:solidFill>
                  <a:srgbClr val="E0E4E6"/>
                </a:solidFill>
                <a:latin typeface="Barlow"/>
                <a:ea typeface="Barlow"/>
                <a:cs typeface="Barlow"/>
                <a:sym typeface="Barlow"/>
              </a:rPr>
              <a:t>Trigger mechanical actuator</a:t>
            </a:r>
          </a:p>
        </p:txBody>
      </p:sp>
      <p:sp>
        <p:nvSpPr>
          <p:cNvPr name="TextBox 36" id="36"/>
          <p:cNvSpPr txBox="true"/>
          <p:nvPr/>
        </p:nvSpPr>
        <p:spPr>
          <a:xfrm rot="0">
            <a:off x="998944" y="9343301"/>
            <a:ext cx="15565160" cy="243679"/>
          </a:xfrm>
          <a:prstGeom prst="rect">
            <a:avLst/>
          </a:prstGeom>
        </p:spPr>
        <p:txBody>
          <a:bodyPr anchor="t" rtlCol="false" tIns="0" lIns="0" bIns="0" rIns="0">
            <a:spAutoFit/>
          </a:bodyPr>
          <a:lstStyle/>
          <a:p>
            <a:pPr algn="l">
              <a:lnSpc>
                <a:spcPts val="1877"/>
              </a:lnSpc>
            </a:pPr>
            <a:r>
              <a:rPr lang="en-US" sz="1475">
                <a:solidFill>
                  <a:srgbClr val="E0E4E6"/>
                </a:solidFill>
                <a:latin typeface="Barlow"/>
                <a:ea typeface="Barlow"/>
                <a:cs typeface="Barlow"/>
                <a:sym typeface="Barlow"/>
              </a:rPr>
              <a:t>This sequential flow ensures that every stage of the dispensing process is triggered only when the previous stage has been successfully completed, maintaining system integrity and user safety.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A081B">
                <a:alpha val="56078"/>
              </a:srgbClr>
            </a:solidFill>
          </p:spPr>
        </p:sp>
      </p:grpSp>
      <p:grpSp>
        <p:nvGrpSpPr>
          <p:cNvPr name="Group 6" id="6"/>
          <p:cNvGrpSpPr/>
          <p:nvPr/>
        </p:nvGrpSpPr>
        <p:grpSpPr>
          <a:xfrm rot="0">
            <a:off x="1092632" y="1066295"/>
            <a:ext cx="2955131" cy="540820"/>
            <a:chOff x="0" y="0"/>
            <a:chExt cx="3940175" cy="721093"/>
          </a:xfrm>
        </p:grpSpPr>
        <p:sp>
          <p:nvSpPr>
            <p:cNvPr name="Freeform 7" id="7"/>
            <p:cNvSpPr/>
            <p:nvPr/>
          </p:nvSpPr>
          <p:spPr>
            <a:xfrm flipH="false" flipV="false" rot="0">
              <a:off x="0" y="0"/>
              <a:ext cx="3940175" cy="721106"/>
            </a:xfrm>
            <a:custGeom>
              <a:avLst/>
              <a:gdLst/>
              <a:ahLst/>
              <a:cxnLst/>
              <a:rect r="r" b="b" t="t" l="l"/>
              <a:pathLst>
                <a:path h="721106" w="3940175">
                  <a:moveTo>
                    <a:pt x="0" y="360553"/>
                  </a:moveTo>
                  <a:cubicBezTo>
                    <a:pt x="0" y="161417"/>
                    <a:pt x="161417" y="0"/>
                    <a:pt x="360553" y="0"/>
                  </a:cubicBezTo>
                  <a:lnTo>
                    <a:pt x="3579622" y="0"/>
                  </a:lnTo>
                  <a:cubicBezTo>
                    <a:pt x="3778758" y="0"/>
                    <a:pt x="3940175" y="161417"/>
                    <a:pt x="3940175" y="360553"/>
                  </a:cubicBezTo>
                  <a:cubicBezTo>
                    <a:pt x="3940175" y="559689"/>
                    <a:pt x="3778758" y="721106"/>
                    <a:pt x="3579622" y="721106"/>
                  </a:cubicBezTo>
                  <a:lnTo>
                    <a:pt x="360553" y="721106"/>
                  </a:lnTo>
                  <a:cubicBezTo>
                    <a:pt x="161417" y="721106"/>
                    <a:pt x="0" y="559689"/>
                    <a:pt x="0" y="360553"/>
                  </a:cubicBezTo>
                  <a:close/>
                </a:path>
              </a:pathLst>
            </a:custGeom>
            <a:blipFill>
              <a:blip r:embed="rId4">
                <a:alphaModFix amt="0"/>
              </a:blip>
              <a:stretch>
                <a:fillRect l="0" t="-56468" r="0" b="-56466"/>
              </a:stretch>
            </a:blipFill>
            <a:ln w="19065" cap="sq">
              <a:solidFill>
                <a:srgbClr val="16FFBB"/>
              </a:solidFill>
              <a:prstDash val="solid"/>
              <a:miter/>
            </a:ln>
          </p:spPr>
        </p:sp>
      </p:grpSp>
      <p:sp>
        <p:nvSpPr>
          <p:cNvPr name="TextBox 8" id="8"/>
          <p:cNvSpPr txBox="true"/>
          <p:nvPr/>
        </p:nvSpPr>
        <p:spPr>
          <a:xfrm rot="0">
            <a:off x="1278207" y="1116235"/>
            <a:ext cx="3499066" cy="383781"/>
          </a:xfrm>
          <a:prstGeom prst="rect">
            <a:avLst/>
          </a:prstGeom>
        </p:spPr>
        <p:txBody>
          <a:bodyPr anchor="t" rtlCol="false" tIns="0" lIns="0" bIns="0" rIns="0">
            <a:spAutoFit/>
          </a:bodyPr>
          <a:lstStyle/>
          <a:p>
            <a:pPr algn="l">
              <a:lnSpc>
                <a:spcPts val="2458"/>
              </a:lnSpc>
            </a:pPr>
            <a:r>
              <a:rPr lang="en-US" sz="1576">
                <a:solidFill>
                  <a:srgbClr val="16FFBB"/>
                </a:solidFill>
                <a:latin typeface="Barlow"/>
                <a:ea typeface="Barlow"/>
                <a:cs typeface="Barlow"/>
                <a:sym typeface="Barlow"/>
              </a:rPr>
              <a:t>CHAPTER 3 · DEVELOPMENT</a:t>
            </a:r>
          </a:p>
        </p:txBody>
      </p:sp>
      <p:sp>
        <p:nvSpPr>
          <p:cNvPr name="TextBox 9" id="9"/>
          <p:cNvSpPr txBox="true"/>
          <p:nvPr/>
        </p:nvSpPr>
        <p:spPr>
          <a:xfrm rot="0">
            <a:off x="1102157" y="1649301"/>
            <a:ext cx="6893281" cy="774773"/>
          </a:xfrm>
          <a:prstGeom prst="rect">
            <a:avLst/>
          </a:prstGeom>
        </p:spPr>
        <p:txBody>
          <a:bodyPr anchor="t" rtlCol="false" tIns="0" lIns="0" bIns="0" rIns="0">
            <a:spAutoFit/>
          </a:bodyPr>
          <a:lstStyle/>
          <a:p>
            <a:pPr algn="l">
              <a:lnSpc>
                <a:spcPts val="5714"/>
              </a:lnSpc>
            </a:pPr>
            <a:r>
              <a:rPr lang="en-US" sz="4578" b="true">
                <a:solidFill>
                  <a:srgbClr val="F0FCFF"/>
                </a:solidFill>
                <a:latin typeface="Arimo Bold"/>
                <a:ea typeface="Arimo Bold"/>
                <a:cs typeface="Arimo Bold"/>
                <a:sym typeface="Arimo Bold"/>
              </a:rPr>
              <a:t>Development Process</a:t>
            </a:r>
          </a:p>
        </p:txBody>
      </p:sp>
      <p:sp>
        <p:nvSpPr>
          <p:cNvPr name="TextBox 10" id="10"/>
          <p:cNvSpPr txBox="true"/>
          <p:nvPr/>
        </p:nvSpPr>
        <p:spPr>
          <a:xfrm rot="0">
            <a:off x="1102157" y="2730351"/>
            <a:ext cx="17012612" cy="475078"/>
          </a:xfrm>
          <a:prstGeom prst="rect">
            <a:avLst/>
          </a:prstGeom>
        </p:spPr>
        <p:txBody>
          <a:bodyPr anchor="t" rtlCol="false" tIns="0" lIns="0" bIns="0" rIns="0">
            <a:spAutoFit/>
          </a:bodyPr>
          <a:lstStyle/>
          <a:p>
            <a:pPr algn="l">
              <a:lnSpc>
                <a:spcPts val="3161"/>
              </a:lnSpc>
            </a:pPr>
            <a:r>
              <a:rPr lang="en-US" sz="2026">
                <a:solidFill>
                  <a:srgbClr val="E0E4E6"/>
                </a:solidFill>
                <a:latin typeface="Barlow"/>
                <a:ea typeface="Barlow"/>
                <a:cs typeface="Barlow"/>
                <a:sym typeface="Barlow"/>
              </a:rPr>
              <a:t>The project followed a structured engineering workflow from problem identification through to a fully integrated prototype.</a:t>
            </a:r>
          </a:p>
        </p:txBody>
      </p:sp>
      <p:grpSp>
        <p:nvGrpSpPr>
          <p:cNvPr name="Group 11" id="11"/>
          <p:cNvGrpSpPr/>
          <p:nvPr/>
        </p:nvGrpSpPr>
        <p:grpSpPr>
          <a:xfrm rot="0">
            <a:off x="1102157" y="3485150"/>
            <a:ext cx="523523" cy="327231"/>
            <a:chOff x="0" y="0"/>
            <a:chExt cx="698030" cy="436308"/>
          </a:xfrm>
        </p:grpSpPr>
        <p:sp>
          <p:nvSpPr>
            <p:cNvPr name="Freeform 12" id="12"/>
            <p:cNvSpPr/>
            <p:nvPr/>
          </p:nvSpPr>
          <p:spPr>
            <a:xfrm flipH="false" flipV="false" rot="0">
              <a:off x="0" y="0"/>
              <a:ext cx="698035" cy="436309"/>
            </a:xfrm>
            <a:custGeom>
              <a:avLst/>
              <a:gdLst/>
              <a:ahLst/>
              <a:cxnLst/>
              <a:rect r="r" b="b" t="t" l="l"/>
              <a:pathLst>
                <a:path h="436309" w="698035">
                  <a:moveTo>
                    <a:pt x="0" y="0"/>
                  </a:moveTo>
                  <a:lnTo>
                    <a:pt x="698035" y="0"/>
                  </a:lnTo>
                  <a:lnTo>
                    <a:pt x="698035" y="436309"/>
                  </a:lnTo>
                  <a:lnTo>
                    <a:pt x="0" y="436309"/>
                  </a:lnTo>
                  <a:close/>
                </a:path>
              </a:pathLst>
            </a:custGeom>
            <a:blipFill>
              <a:blip r:embed="rId4">
                <a:alphaModFix amt="0"/>
              </a:blip>
              <a:stretch>
                <a:fillRect l="-30196" t="0" r="-30196" b="0"/>
              </a:stretch>
            </a:blipFill>
          </p:spPr>
        </p:sp>
        <p:sp>
          <p:nvSpPr>
            <p:cNvPr name="TextBox 13" id="13"/>
            <p:cNvSpPr txBox="true"/>
            <p:nvPr/>
          </p:nvSpPr>
          <p:spPr>
            <a:xfrm>
              <a:off x="0" y="-9525"/>
              <a:ext cx="698030" cy="445833"/>
            </a:xfrm>
            <a:prstGeom prst="rect">
              <a:avLst/>
            </a:prstGeom>
          </p:spPr>
          <p:txBody>
            <a:bodyPr anchor="ctr" rtlCol="false" tIns="0" lIns="0" bIns="0" rIns="0"/>
            <a:lstStyle/>
            <a:p>
              <a:pPr algn="l">
                <a:lnSpc>
                  <a:spcPts val="2431"/>
                </a:lnSpc>
              </a:pPr>
              <a:r>
                <a:rPr lang="en-US" sz="2026">
                  <a:solidFill>
                    <a:srgbClr val="E0E4E6"/>
                  </a:solidFill>
                  <a:latin typeface="Arimo"/>
                  <a:ea typeface="Arimo"/>
                  <a:cs typeface="Arimo"/>
                  <a:sym typeface="Arimo"/>
                </a:rPr>
                <a:t>01</a:t>
              </a:r>
            </a:p>
          </p:txBody>
        </p:sp>
      </p:grpSp>
      <p:grpSp>
        <p:nvGrpSpPr>
          <p:cNvPr name="Group 14" id="14"/>
          <p:cNvGrpSpPr/>
          <p:nvPr/>
        </p:nvGrpSpPr>
        <p:grpSpPr>
          <a:xfrm rot="0">
            <a:off x="1102157" y="3901450"/>
            <a:ext cx="5200117" cy="28594"/>
            <a:chOff x="0" y="0"/>
            <a:chExt cx="6933489" cy="38125"/>
          </a:xfrm>
        </p:grpSpPr>
        <p:sp>
          <p:nvSpPr>
            <p:cNvPr name="Freeform 15" id="15"/>
            <p:cNvSpPr/>
            <p:nvPr/>
          </p:nvSpPr>
          <p:spPr>
            <a:xfrm flipH="false" flipV="false" rot="0">
              <a:off x="0" y="0"/>
              <a:ext cx="6933438" cy="38100"/>
            </a:xfrm>
            <a:custGeom>
              <a:avLst/>
              <a:gdLst/>
              <a:ahLst/>
              <a:cxnLst/>
              <a:rect r="r" b="b" t="t" l="l"/>
              <a:pathLst>
                <a:path h="38100" w="6933438">
                  <a:moveTo>
                    <a:pt x="0" y="0"/>
                  </a:moveTo>
                  <a:lnTo>
                    <a:pt x="6933438" y="0"/>
                  </a:lnTo>
                  <a:lnTo>
                    <a:pt x="6933438" y="38100"/>
                  </a:lnTo>
                  <a:lnTo>
                    <a:pt x="0" y="38100"/>
                  </a:lnTo>
                  <a:close/>
                </a:path>
              </a:pathLst>
            </a:custGeom>
            <a:solidFill>
              <a:srgbClr val="16FFBB"/>
            </a:solidFill>
          </p:spPr>
        </p:sp>
      </p:grpSp>
      <p:sp>
        <p:nvSpPr>
          <p:cNvPr name="TextBox 16" id="16"/>
          <p:cNvSpPr txBox="true"/>
          <p:nvPr/>
        </p:nvSpPr>
        <p:spPr>
          <a:xfrm rot="0">
            <a:off x="1102157" y="4060841"/>
            <a:ext cx="3045390" cy="392144"/>
          </a:xfrm>
          <a:prstGeom prst="rect">
            <a:avLst/>
          </a:prstGeom>
        </p:spPr>
        <p:txBody>
          <a:bodyPr anchor="t" rtlCol="false" tIns="0" lIns="0" bIns="0" rIns="0">
            <a:spAutoFit/>
          </a:bodyPr>
          <a:lstStyle/>
          <a:p>
            <a:pPr algn="l">
              <a:lnSpc>
                <a:spcPts val="2810"/>
              </a:lnSpc>
            </a:pPr>
            <a:r>
              <a:rPr lang="en-US" sz="2251" b="true">
                <a:solidFill>
                  <a:srgbClr val="E0E4E6"/>
                </a:solidFill>
                <a:latin typeface="Arimo Bold"/>
                <a:ea typeface="Arimo Bold"/>
                <a:cs typeface="Arimo Bold"/>
                <a:sym typeface="Arimo Bold"/>
              </a:rPr>
              <a:t>Concept Development</a:t>
            </a:r>
          </a:p>
        </p:txBody>
      </p:sp>
      <p:sp>
        <p:nvSpPr>
          <p:cNvPr name="TextBox 17" id="17"/>
          <p:cNvSpPr txBox="true"/>
          <p:nvPr/>
        </p:nvSpPr>
        <p:spPr>
          <a:xfrm rot="0">
            <a:off x="1102157" y="4535414"/>
            <a:ext cx="5200117" cy="1700298"/>
          </a:xfrm>
          <a:prstGeom prst="rect">
            <a:avLst/>
          </a:prstGeom>
        </p:spPr>
        <p:txBody>
          <a:bodyPr anchor="t" rtlCol="false" tIns="0" lIns="0" bIns="0" rIns="0">
            <a:spAutoFit/>
          </a:bodyPr>
          <a:lstStyle/>
          <a:p>
            <a:pPr algn="l">
              <a:lnSpc>
                <a:spcPts val="3161"/>
              </a:lnSpc>
            </a:pPr>
            <a:r>
              <a:rPr lang="en-US" sz="2026">
                <a:solidFill>
                  <a:srgbClr val="E0E4E6"/>
                </a:solidFill>
                <a:latin typeface="Barlow"/>
                <a:ea typeface="Barlow"/>
                <a:cs typeface="Barlow"/>
                <a:sym typeface="Barlow"/>
              </a:rPr>
              <a:t>The project began with the identification of hygiene-related challenges associated with traditional water dispensers, establishing clear design goals and success criteria.</a:t>
            </a:r>
          </a:p>
        </p:txBody>
      </p:sp>
      <p:grpSp>
        <p:nvGrpSpPr>
          <p:cNvPr name="Group 18" id="18"/>
          <p:cNvGrpSpPr/>
          <p:nvPr/>
        </p:nvGrpSpPr>
        <p:grpSpPr>
          <a:xfrm rot="0">
            <a:off x="6550857" y="3485150"/>
            <a:ext cx="523523" cy="327231"/>
            <a:chOff x="0" y="0"/>
            <a:chExt cx="698030" cy="436308"/>
          </a:xfrm>
        </p:grpSpPr>
        <p:sp>
          <p:nvSpPr>
            <p:cNvPr name="Freeform 19" id="19"/>
            <p:cNvSpPr/>
            <p:nvPr/>
          </p:nvSpPr>
          <p:spPr>
            <a:xfrm flipH="false" flipV="false" rot="0">
              <a:off x="0" y="0"/>
              <a:ext cx="698035" cy="436309"/>
            </a:xfrm>
            <a:custGeom>
              <a:avLst/>
              <a:gdLst/>
              <a:ahLst/>
              <a:cxnLst/>
              <a:rect r="r" b="b" t="t" l="l"/>
              <a:pathLst>
                <a:path h="436309" w="698035">
                  <a:moveTo>
                    <a:pt x="0" y="0"/>
                  </a:moveTo>
                  <a:lnTo>
                    <a:pt x="698035" y="0"/>
                  </a:lnTo>
                  <a:lnTo>
                    <a:pt x="698035" y="436309"/>
                  </a:lnTo>
                  <a:lnTo>
                    <a:pt x="0" y="436309"/>
                  </a:lnTo>
                  <a:close/>
                </a:path>
              </a:pathLst>
            </a:custGeom>
            <a:blipFill>
              <a:blip r:embed="rId4">
                <a:alphaModFix amt="0"/>
              </a:blip>
              <a:stretch>
                <a:fillRect l="-30196" t="0" r="-30196" b="0"/>
              </a:stretch>
            </a:blipFill>
          </p:spPr>
        </p:sp>
        <p:sp>
          <p:nvSpPr>
            <p:cNvPr name="TextBox 20" id="20"/>
            <p:cNvSpPr txBox="true"/>
            <p:nvPr/>
          </p:nvSpPr>
          <p:spPr>
            <a:xfrm>
              <a:off x="0" y="-9525"/>
              <a:ext cx="698030" cy="445833"/>
            </a:xfrm>
            <a:prstGeom prst="rect">
              <a:avLst/>
            </a:prstGeom>
          </p:spPr>
          <p:txBody>
            <a:bodyPr anchor="ctr" rtlCol="false" tIns="0" lIns="0" bIns="0" rIns="0"/>
            <a:lstStyle/>
            <a:p>
              <a:pPr algn="l">
                <a:lnSpc>
                  <a:spcPts val="2431"/>
                </a:lnSpc>
              </a:pPr>
              <a:r>
                <a:rPr lang="en-US" sz="2026">
                  <a:solidFill>
                    <a:srgbClr val="E0E4E6"/>
                  </a:solidFill>
                  <a:latin typeface="Arimo"/>
                  <a:ea typeface="Arimo"/>
                  <a:cs typeface="Arimo"/>
                  <a:sym typeface="Arimo"/>
                </a:rPr>
                <a:t>02</a:t>
              </a:r>
            </a:p>
          </p:txBody>
        </p:sp>
      </p:grpSp>
      <p:grpSp>
        <p:nvGrpSpPr>
          <p:cNvPr name="Group 21" id="21"/>
          <p:cNvGrpSpPr/>
          <p:nvPr/>
        </p:nvGrpSpPr>
        <p:grpSpPr>
          <a:xfrm rot="0">
            <a:off x="6550857" y="3901450"/>
            <a:ext cx="5200117" cy="28594"/>
            <a:chOff x="0" y="0"/>
            <a:chExt cx="6933489" cy="38125"/>
          </a:xfrm>
        </p:grpSpPr>
        <p:sp>
          <p:nvSpPr>
            <p:cNvPr name="Freeform 22" id="22"/>
            <p:cNvSpPr/>
            <p:nvPr/>
          </p:nvSpPr>
          <p:spPr>
            <a:xfrm flipH="false" flipV="false" rot="0">
              <a:off x="0" y="0"/>
              <a:ext cx="6933438" cy="38100"/>
            </a:xfrm>
            <a:custGeom>
              <a:avLst/>
              <a:gdLst/>
              <a:ahLst/>
              <a:cxnLst/>
              <a:rect r="r" b="b" t="t" l="l"/>
              <a:pathLst>
                <a:path h="38100" w="6933438">
                  <a:moveTo>
                    <a:pt x="0" y="0"/>
                  </a:moveTo>
                  <a:lnTo>
                    <a:pt x="6933438" y="0"/>
                  </a:lnTo>
                  <a:lnTo>
                    <a:pt x="6933438" y="38100"/>
                  </a:lnTo>
                  <a:lnTo>
                    <a:pt x="0" y="38100"/>
                  </a:lnTo>
                  <a:close/>
                </a:path>
              </a:pathLst>
            </a:custGeom>
            <a:solidFill>
              <a:srgbClr val="29DDDA"/>
            </a:solidFill>
          </p:spPr>
        </p:sp>
      </p:grpSp>
      <p:sp>
        <p:nvSpPr>
          <p:cNvPr name="TextBox 23" id="23"/>
          <p:cNvSpPr txBox="true"/>
          <p:nvPr/>
        </p:nvSpPr>
        <p:spPr>
          <a:xfrm rot="0">
            <a:off x="6550857" y="4060841"/>
            <a:ext cx="2960046" cy="392144"/>
          </a:xfrm>
          <a:prstGeom prst="rect">
            <a:avLst/>
          </a:prstGeom>
        </p:spPr>
        <p:txBody>
          <a:bodyPr anchor="t" rtlCol="false" tIns="0" lIns="0" bIns="0" rIns="0">
            <a:spAutoFit/>
          </a:bodyPr>
          <a:lstStyle/>
          <a:p>
            <a:pPr algn="l">
              <a:lnSpc>
                <a:spcPts val="2810"/>
              </a:lnSpc>
            </a:pPr>
            <a:r>
              <a:rPr lang="en-US" sz="2251" b="true">
                <a:solidFill>
                  <a:srgbClr val="E0E4E6"/>
                </a:solidFill>
                <a:latin typeface="Arimo Bold"/>
                <a:ea typeface="Arimo Bold"/>
                <a:cs typeface="Arimo Bold"/>
                <a:sym typeface="Arimo Bold"/>
              </a:rPr>
              <a:t>Component Selection</a:t>
            </a:r>
          </a:p>
        </p:txBody>
      </p:sp>
      <p:sp>
        <p:nvSpPr>
          <p:cNvPr name="TextBox 24" id="24"/>
          <p:cNvSpPr txBox="true"/>
          <p:nvPr/>
        </p:nvSpPr>
        <p:spPr>
          <a:xfrm rot="0">
            <a:off x="6550857" y="4535414"/>
            <a:ext cx="5200117" cy="1700298"/>
          </a:xfrm>
          <a:prstGeom prst="rect">
            <a:avLst/>
          </a:prstGeom>
        </p:spPr>
        <p:txBody>
          <a:bodyPr anchor="t" rtlCol="false" tIns="0" lIns="0" bIns="0" rIns="0">
            <a:spAutoFit/>
          </a:bodyPr>
          <a:lstStyle/>
          <a:p>
            <a:pPr algn="l">
              <a:lnSpc>
                <a:spcPts val="3161"/>
              </a:lnSpc>
            </a:pPr>
            <a:r>
              <a:rPr lang="en-US" sz="2026">
                <a:solidFill>
                  <a:srgbClr val="E0E4E6"/>
                </a:solidFill>
                <a:latin typeface="Barlow"/>
                <a:ea typeface="Barlow"/>
                <a:cs typeface="Barlow"/>
                <a:sym typeface="Barlow"/>
              </a:rPr>
              <a:t>Various sensing technologies were evaluated before selecting the HC-SR04 ultrasonic sensor due to its reliability, simplicity, and affordability for the application.</a:t>
            </a:r>
          </a:p>
        </p:txBody>
      </p:sp>
      <p:grpSp>
        <p:nvGrpSpPr>
          <p:cNvPr name="Group 25" id="25"/>
          <p:cNvGrpSpPr/>
          <p:nvPr/>
        </p:nvGrpSpPr>
        <p:grpSpPr>
          <a:xfrm rot="0">
            <a:off x="11999557" y="3485150"/>
            <a:ext cx="523523" cy="327231"/>
            <a:chOff x="0" y="0"/>
            <a:chExt cx="698030" cy="436308"/>
          </a:xfrm>
        </p:grpSpPr>
        <p:sp>
          <p:nvSpPr>
            <p:cNvPr name="Freeform 26" id="26"/>
            <p:cNvSpPr/>
            <p:nvPr/>
          </p:nvSpPr>
          <p:spPr>
            <a:xfrm flipH="false" flipV="false" rot="0">
              <a:off x="0" y="0"/>
              <a:ext cx="698035" cy="436309"/>
            </a:xfrm>
            <a:custGeom>
              <a:avLst/>
              <a:gdLst/>
              <a:ahLst/>
              <a:cxnLst/>
              <a:rect r="r" b="b" t="t" l="l"/>
              <a:pathLst>
                <a:path h="436309" w="698035">
                  <a:moveTo>
                    <a:pt x="0" y="0"/>
                  </a:moveTo>
                  <a:lnTo>
                    <a:pt x="698035" y="0"/>
                  </a:lnTo>
                  <a:lnTo>
                    <a:pt x="698035" y="436309"/>
                  </a:lnTo>
                  <a:lnTo>
                    <a:pt x="0" y="436309"/>
                  </a:lnTo>
                  <a:close/>
                </a:path>
              </a:pathLst>
            </a:custGeom>
            <a:blipFill>
              <a:blip r:embed="rId4">
                <a:alphaModFix amt="0"/>
              </a:blip>
              <a:stretch>
                <a:fillRect l="-30196" t="0" r="-30196" b="0"/>
              </a:stretch>
            </a:blipFill>
          </p:spPr>
        </p:sp>
        <p:sp>
          <p:nvSpPr>
            <p:cNvPr name="TextBox 27" id="27"/>
            <p:cNvSpPr txBox="true"/>
            <p:nvPr/>
          </p:nvSpPr>
          <p:spPr>
            <a:xfrm>
              <a:off x="0" y="-9525"/>
              <a:ext cx="698030" cy="445833"/>
            </a:xfrm>
            <a:prstGeom prst="rect">
              <a:avLst/>
            </a:prstGeom>
          </p:spPr>
          <p:txBody>
            <a:bodyPr anchor="ctr" rtlCol="false" tIns="0" lIns="0" bIns="0" rIns="0"/>
            <a:lstStyle/>
            <a:p>
              <a:pPr algn="l">
                <a:lnSpc>
                  <a:spcPts val="2431"/>
                </a:lnSpc>
              </a:pPr>
              <a:r>
                <a:rPr lang="en-US" sz="2026">
                  <a:solidFill>
                    <a:srgbClr val="E0E4E6"/>
                  </a:solidFill>
                  <a:latin typeface="Arimo"/>
                  <a:ea typeface="Arimo"/>
                  <a:cs typeface="Arimo"/>
                  <a:sym typeface="Arimo"/>
                </a:rPr>
                <a:t>03</a:t>
              </a:r>
            </a:p>
          </p:txBody>
        </p:sp>
      </p:grpSp>
      <p:grpSp>
        <p:nvGrpSpPr>
          <p:cNvPr name="Group 28" id="28"/>
          <p:cNvGrpSpPr/>
          <p:nvPr/>
        </p:nvGrpSpPr>
        <p:grpSpPr>
          <a:xfrm rot="0">
            <a:off x="11999557" y="3901450"/>
            <a:ext cx="5200117" cy="28594"/>
            <a:chOff x="0" y="0"/>
            <a:chExt cx="6933489" cy="38125"/>
          </a:xfrm>
        </p:grpSpPr>
        <p:sp>
          <p:nvSpPr>
            <p:cNvPr name="Freeform 29" id="29"/>
            <p:cNvSpPr/>
            <p:nvPr/>
          </p:nvSpPr>
          <p:spPr>
            <a:xfrm flipH="false" flipV="false" rot="0">
              <a:off x="0" y="0"/>
              <a:ext cx="6933438" cy="38100"/>
            </a:xfrm>
            <a:custGeom>
              <a:avLst/>
              <a:gdLst/>
              <a:ahLst/>
              <a:cxnLst/>
              <a:rect r="r" b="b" t="t" l="l"/>
              <a:pathLst>
                <a:path h="38100" w="6933438">
                  <a:moveTo>
                    <a:pt x="0" y="0"/>
                  </a:moveTo>
                  <a:lnTo>
                    <a:pt x="6933438" y="0"/>
                  </a:lnTo>
                  <a:lnTo>
                    <a:pt x="6933438" y="38100"/>
                  </a:lnTo>
                  <a:lnTo>
                    <a:pt x="0" y="38100"/>
                  </a:lnTo>
                  <a:close/>
                </a:path>
              </a:pathLst>
            </a:custGeom>
            <a:solidFill>
              <a:srgbClr val="37A7E7"/>
            </a:solidFill>
          </p:spPr>
        </p:sp>
      </p:grpSp>
      <p:sp>
        <p:nvSpPr>
          <p:cNvPr name="TextBox 30" id="30"/>
          <p:cNvSpPr txBox="true"/>
          <p:nvPr/>
        </p:nvSpPr>
        <p:spPr>
          <a:xfrm rot="0">
            <a:off x="11999557" y="4060841"/>
            <a:ext cx="2908811" cy="392144"/>
          </a:xfrm>
          <a:prstGeom prst="rect">
            <a:avLst/>
          </a:prstGeom>
        </p:spPr>
        <p:txBody>
          <a:bodyPr anchor="t" rtlCol="false" tIns="0" lIns="0" bIns="0" rIns="0">
            <a:spAutoFit/>
          </a:bodyPr>
          <a:lstStyle/>
          <a:p>
            <a:pPr algn="l">
              <a:lnSpc>
                <a:spcPts val="2810"/>
              </a:lnSpc>
            </a:pPr>
            <a:r>
              <a:rPr lang="en-US" sz="2251" b="true">
                <a:solidFill>
                  <a:srgbClr val="E0E4E6"/>
                </a:solidFill>
                <a:latin typeface="Arimo Bold"/>
                <a:ea typeface="Arimo Bold"/>
                <a:cs typeface="Arimo Bold"/>
                <a:sym typeface="Arimo Bold"/>
              </a:rPr>
              <a:t>Prototype Assembly</a:t>
            </a:r>
          </a:p>
        </p:txBody>
      </p:sp>
      <p:sp>
        <p:nvSpPr>
          <p:cNvPr name="TextBox 31" id="31"/>
          <p:cNvSpPr txBox="true"/>
          <p:nvPr/>
        </p:nvSpPr>
        <p:spPr>
          <a:xfrm rot="0">
            <a:off x="11999557" y="4535414"/>
            <a:ext cx="5200117" cy="1700298"/>
          </a:xfrm>
          <a:prstGeom prst="rect">
            <a:avLst/>
          </a:prstGeom>
        </p:spPr>
        <p:txBody>
          <a:bodyPr anchor="t" rtlCol="false" tIns="0" lIns="0" bIns="0" rIns="0">
            <a:spAutoFit/>
          </a:bodyPr>
          <a:lstStyle/>
          <a:p>
            <a:pPr algn="l">
              <a:lnSpc>
                <a:spcPts val="3161"/>
              </a:lnSpc>
            </a:pPr>
            <a:r>
              <a:rPr lang="en-US" sz="2026">
                <a:solidFill>
                  <a:srgbClr val="E0E4E6"/>
                </a:solidFill>
                <a:latin typeface="Barlow"/>
                <a:ea typeface="Barlow"/>
                <a:cs typeface="Barlow"/>
                <a:sym typeface="Barlow"/>
              </a:rPr>
              <a:t>The electronic components were integrated and tested on a breadboard to validate sensing accuracy and actuator performance before final assembly.</a:t>
            </a:r>
          </a:p>
        </p:txBody>
      </p:sp>
      <p:grpSp>
        <p:nvGrpSpPr>
          <p:cNvPr name="Group 32" id="32"/>
          <p:cNvGrpSpPr/>
          <p:nvPr/>
        </p:nvGrpSpPr>
        <p:grpSpPr>
          <a:xfrm rot="0">
            <a:off x="1102157" y="6680606"/>
            <a:ext cx="523523" cy="327231"/>
            <a:chOff x="0" y="0"/>
            <a:chExt cx="698030" cy="436308"/>
          </a:xfrm>
        </p:grpSpPr>
        <p:sp>
          <p:nvSpPr>
            <p:cNvPr name="Freeform 33" id="33"/>
            <p:cNvSpPr/>
            <p:nvPr/>
          </p:nvSpPr>
          <p:spPr>
            <a:xfrm flipH="false" flipV="false" rot="0">
              <a:off x="0" y="0"/>
              <a:ext cx="698035" cy="436309"/>
            </a:xfrm>
            <a:custGeom>
              <a:avLst/>
              <a:gdLst/>
              <a:ahLst/>
              <a:cxnLst/>
              <a:rect r="r" b="b" t="t" l="l"/>
              <a:pathLst>
                <a:path h="436309" w="698035">
                  <a:moveTo>
                    <a:pt x="0" y="0"/>
                  </a:moveTo>
                  <a:lnTo>
                    <a:pt x="698035" y="0"/>
                  </a:lnTo>
                  <a:lnTo>
                    <a:pt x="698035" y="436309"/>
                  </a:lnTo>
                  <a:lnTo>
                    <a:pt x="0" y="436309"/>
                  </a:lnTo>
                  <a:close/>
                </a:path>
              </a:pathLst>
            </a:custGeom>
            <a:blipFill>
              <a:blip r:embed="rId4">
                <a:alphaModFix amt="0"/>
              </a:blip>
              <a:stretch>
                <a:fillRect l="-30196" t="0" r="-30196" b="0"/>
              </a:stretch>
            </a:blipFill>
          </p:spPr>
        </p:sp>
        <p:sp>
          <p:nvSpPr>
            <p:cNvPr name="TextBox 34" id="34"/>
            <p:cNvSpPr txBox="true"/>
            <p:nvPr/>
          </p:nvSpPr>
          <p:spPr>
            <a:xfrm>
              <a:off x="0" y="-9525"/>
              <a:ext cx="698030" cy="445833"/>
            </a:xfrm>
            <a:prstGeom prst="rect">
              <a:avLst/>
            </a:prstGeom>
          </p:spPr>
          <p:txBody>
            <a:bodyPr anchor="ctr" rtlCol="false" tIns="0" lIns="0" bIns="0" rIns="0"/>
            <a:lstStyle/>
            <a:p>
              <a:pPr algn="l">
                <a:lnSpc>
                  <a:spcPts val="2431"/>
                </a:lnSpc>
              </a:pPr>
              <a:r>
                <a:rPr lang="en-US" sz="2026">
                  <a:solidFill>
                    <a:srgbClr val="E0E4E6"/>
                  </a:solidFill>
                  <a:latin typeface="Arimo"/>
                  <a:ea typeface="Arimo"/>
                  <a:cs typeface="Arimo"/>
                  <a:sym typeface="Arimo"/>
                </a:rPr>
                <a:t>04</a:t>
              </a:r>
            </a:p>
          </p:txBody>
        </p:sp>
      </p:grpSp>
      <p:grpSp>
        <p:nvGrpSpPr>
          <p:cNvPr name="Group 35" id="35"/>
          <p:cNvGrpSpPr/>
          <p:nvPr/>
        </p:nvGrpSpPr>
        <p:grpSpPr>
          <a:xfrm rot="0">
            <a:off x="1102157" y="7096906"/>
            <a:ext cx="7924390" cy="28594"/>
            <a:chOff x="0" y="0"/>
            <a:chExt cx="10565854" cy="38125"/>
          </a:xfrm>
        </p:grpSpPr>
        <p:sp>
          <p:nvSpPr>
            <p:cNvPr name="Freeform 36" id="36"/>
            <p:cNvSpPr/>
            <p:nvPr/>
          </p:nvSpPr>
          <p:spPr>
            <a:xfrm flipH="false" flipV="false" rot="0">
              <a:off x="0" y="0"/>
              <a:ext cx="10565892" cy="38100"/>
            </a:xfrm>
            <a:custGeom>
              <a:avLst/>
              <a:gdLst/>
              <a:ahLst/>
              <a:cxnLst/>
              <a:rect r="r" b="b" t="t" l="l"/>
              <a:pathLst>
                <a:path h="38100" w="10565892">
                  <a:moveTo>
                    <a:pt x="0" y="0"/>
                  </a:moveTo>
                  <a:lnTo>
                    <a:pt x="10565892" y="0"/>
                  </a:lnTo>
                  <a:lnTo>
                    <a:pt x="10565892" y="38100"/>
                  </a:lnTo>
                  <a:lnTo>
                    <a:pt x="0" y="38100"/>
                  </a:lnTo>
                  <a:close/>
                </a:path>
              </a:pathLst>
            </a:custGeom>
            <a:solidFill>
              <a:srgbClr val="091231"/>
            </a:solidFill>
          </p:spPr>
        </p:sp>
      </p:grpSp>
      <p:sp>
        <p:nvSpPr>
          <p:cNvPr name="TextBox 37" id="37"/>
          <p:cNvSpPr txBox="true"/>
          <p:nvPr/>
        </p:nvSpPr>
        <p:spPr>
          <a:xfrm rot="0">
            <a:off x="1102157" y="7256297"/>
            <a:ext cx="3163052" cy="392144"/>
          </a:xfrm>
          <a:prstGeom prst="rect">
            <a:avLst/>
          </a:prstGeom>
        </p:spPr>
        <p:txBody>
          <a:bodyPr anchor="t" rtlCol="false" tIns="0" lIns="0" bIns="0" rIns="0">
            <a:spAutoFit/>
          </a:bodyPr>
          <a:lstStyle/>
          <a:p>
            <a:pPr algn="l">
              <a:lnSpc>
                <a:spcPts val="2810"/>
              </a:lnSpc>
            </a:pPr>
            <a:r>
              <a:rPr lang="en-US" sz="2251" b="true">
                <a:solidFill>
                  <a:srgbClr val="E0E4E6"/>
                </a:solidFill>
                <a:latin typeface="Arimo Bold"/>
                <a:ea typeface="Arimo Bold"/>
                <a:cs typeface="Arimo Bold"/>
                <a:sym typeface="Arimo Bold"/>
              </a:rPr>
              <a:t>Software Development</a:t>
            </a:r>
          </a:p>
        </p:txBody>
      </p:sp>
      <p:sp>
        <p:nvSpPr>
          <p:cNvPr name="TextBox 38" id="38"/>
          <p:cNvSpPr txBox="true"/>
          <p:nvPr/>
        </p:nvSpPr>
        <p:spPr>
          <a:xfrm rot="0">
            <a:off x="1102157" y="7730871"/>
            <a:ext cx="7924390" cy="1291895"/>
          </a:xfrm>
          <a:prstGeom prst="rect">
            <a:avLst/>
          </a:prstGeom>
        </p:spPr>
        <p:txBody>
          <a:bodyPr anchor="t" rtlCol="false" tIns="0" lIns="0" bIns="0" rIns="0">
            <a:spAutoFit/>
          </a:bodyPr>
          <a:lstStyle/>
          <a:p>
            <a:pPr algn="l">
              <a:lnSpc>
                <a:spcPts val="3161"/>
              </a:lnSpc>
            </a:pPr>
            <a:r>
              <a:rPr lang="en-US" sz="2026">
                <a:solidFill>
                  <a:srgbClr val="E0E4E6"/>
                </a:solidFill>
                <a:latin typeface="Barlow"/>
                <a:ea typeface="Barlow"/>
                <a:cs typeface="Barlow"/>
                <a:sym typeface="Barlow"/>
              </a:rPr>
              <a:t>Embedded firmware was developed using Arduino IDE to control sensor acquisition, motor actuation, and LCD display functions in a unified program.</a:t>
            </a:r>
          </a:p>
        </p:txBody>
      </p:sp>
      <p:grpSp>
        <p:nvGrpSpPr>
          <p:cNvPr name="Group 39" id="39"/>
          <p:cNvGrpSpPr/>
          <p:nvPr/>
        </p:nvGrpSpPr>
        <p:grpSpPr>
          <a:xfrm rot="0">
            <a:off x="9275140" y="6680606"/>
            <a:ext cx="523523" cy="327231"/>
            <a:chOff x="0" y="0"/>
            <a:chExt cx="698030" cy="436308"/>
          </a:xfrm>
        </p:grpSpPr>
        <p:sp>
          <p:nvSpPr>
            <p:cNvPr name="Freeform 40" id="40"/>
            <p:cNvSpPr/>
            <p:nvPr/>
          </p:nvSpPr>
          <p:spPr>
            <a:xfrm flipH="false" flipV="false" rot="0">
              <a:off x="0" y="0"/>
              <a:ext cx="698035" cy="436309"/>
            </a:xfrm>
            <a:custGeom>
              <a:avLst/>
              <a:gdLst/>
              <a:ahLst/>
              <a:cxnLst/>
              <a:rect r="r" b="b" t="t" l="l"/>
              <a:pathLst>
                <a:path h="436309" w="698035">
                  <a:moveTo>
                    <a:pt x="0" y="0"/>
                  </a:moveTo>
                  <a:lnTo>
                    <a:pt x="698035" y="0"/>
                  </a:lnTo>
                  <a:lnTo>
                    <a:pt x="698035" y="436309"/>
                  </a:lnTo>
                  <a:lnTo>
                    <a:pt x="0" y="436309"/>
                  </a:lnTo>
                  <a:close/>
                </a:path>
              </a:pathLst>
            </a:custGeom>
            <a:blipFill>
              <a:blip r:embed="rId4">
                <a:alphaModFix amt="0"/>
              </a:blip>
              <a:stretch>
                <a:fillRect l="-30196" t="0" r="-30196" b="0"/>
              </a:stretch>
            </a:blipFill>
          </p:spPr>
        </p:sp>
        <p:sp>
          <p:nvSpPr>
            <p:cNvPr name="TextBox 41" id="41"/>
            <p:cNvSpPr txBox="true"/>
            <p:nvPr/>
          </p:nvSpPr>
          <p:spPr>
            <a:xfrm>
              <a:off x="0" y="-9525"/>
              <a:ext cx="698030" cy="445833"/>
            </a:xfrm>
            <a:prstGeom prst="rect">
              <a:avLst/>
            </a:prstGeom>
          </p:spPr>
          <p:txBody>
            <a:bodyPr anchor="ctr" rtlCol="false" tIns="0" lIns="0" bIns="0" rIns="0"/>
            <a:lstStyle/>
            <a:p>
              <a:pPr algn="l">
                <a:lnSpc>
                  <a:spcPts val="2431"/>
                </a:lnSpc>
              </a:pPr>
              <a:r>
                <a:rPr lang="en-US" sz="2026">
                  <a:solidFill>
                    <a:srgbClr val="E0E4E6"/>
                  </a:solidFill>
                  <a:latin typeface="Arimo"/>
                  <a:ea typeface="Arimo"/>
                  <a:cs typeface="Arimo"/>
                  <a:sym typeface="Arimo"/>
                </a:rPr>
                <a:t>05</a:t>
              </a:r>
            </a:p>
          </p:txBody>
        </p:sp>
      </p:grpSp>
      <p:grpSp>
        <p:nvGrpSpPr>
          <p:cNvPr name="Group 42" id="42"/>
          <p:cNvGrpSpPr/>
          <p:nvPr/>
        </p:nvGrpSpPr>
        <p:grpSpPr>
          <a:xfrm rot="0">
            <a:off x="9275140" y="7096906"/>
            <a:ext cx="7924543" cy="28594"/>
            <a:chOff x="0" y="0"/>
            <a:chExt cx="10566057" cy="38125"/>
          </a:xfrm>
        </p:grpSpPr>
        <p:sp>
          <p:nvSpPr>
            <p:cNvPr name="Freeform 43" id="43"/>
            <p:cNvSpPr/>
            <p:nvPr/>
          </p:nvSpPr>
          <p:spPr>
            <a:xfrm flipH="false" flipV="false" rot="0">
              <a:off x="0" y="0"/>
              <a:ext cx="10566019" cy="38100"/>
            </a:xfrm>
            <a:custGeom>
              <a:avLst/>
              <a:gdLst/>
              <a:ahLst/>
              <a:cxnLst/>
              <a:rect r="r" b="b" t="t" l="l"/>
              <a:pathLst>
                <a:path h="38100" w="10566019">
                  <a:moveTo>
                    <a:pt x="0" y="0"/>
                  </a:moveTo>
                  <a:lnTo>
                    <a:pt x="10566019" y="0"/>
                  </a:lnTo>
                  <a:lnTo>
                    <a:pt x="10566019" y="38100"/>
                  </a:lnTo>
                  <a:lnTo>
                    <a:pt x="0" y="38100"/>
                  </a:lnTo>
                  <a:close/>
                </a:path>
              </a:pathLst>
            </a:custGeom>
            <a:solidFill>
              <a:srgbClr val="16FFBB"/>
            </a:solidFill>
          </p:spPr>
        </p:sp>
      </p:grpSp>
      <p:sp>
        <p:nvSpPr>
          <p:cNvPr name="TextBox 44" id="44"/>
          <p:cNvSpPr txBox="true"/>
          <p:nvPr/>
        </p:nvSpPr>
        <p:spPr>
          <a:xfrm rot="0">
            <a:off x="9275140" y="7256297"/>
            <a:ext cx="2908811" cy="392144"/>
          </a:xfrm>
          <a:prstGeom prst="rect">
            <a:avLst/>
          </a:prstGeom>
        </p:spPr>
        <p:txBody>
          <a:bodyPr anchor="t" rtlCol="false" tIns="0" lIns="0" bIns="0" rIns="0">
            <a:spAutoFit/>
          </a:bodyPr>
          <a:lstStyle/>
          <a:p>
            <a:pPr algn="l">
              <a:lnSpc>
                <a:spcPts val="2810"/>
              </a:lnSpc>
            </a:pPr>
            <a:r>
              <a:rPr lang="en-US" sz="2251" b="true">
                <a:solidFill>
                  <a:srgbClr val="E0E4E6"/>
                </a:solidFill>
                <a:latin typeface="Arimo Bold"/>
                <a:ea typeface="Arimo Bold"/>
                <a:cs typeface="Arimo Bold"/>
                <a:sym typeface="Arimo Bold"/>
              </a:rPr>
              <a:t>System Integration</a:t>
            </a:r>
          </a:p>
        </p:txBody>
      </p:sp>
      <p:sp>
        <p:nvSpPr>
          <p:cNvPr name="TextBox 45" id="45"/>
          <p:cNvSpPr txBox="true"/>
          <p:nvPr/>
        </p:nvSpPr>
        <p:spPr>
          <a:xfrm rot="0">
            <a:off x="9275140" y="7730871"/>
            <a:ext cx="7924543" cy="1291895"/>
          </a:xfrm>
          <a:prstGeom prst="rect">
            <a:avLst/>
          </a:prstGeom>
        </p:spPr>
        <p:txBody>
          <a:bodyPr anchor="t" rtlCol="false" tIns="0" lIns="0" bIns="0" rIns="0">
            <a:spAutoFit/>
          </a:bodyPr>
          <a:lstStyle/>
          <a:p>
            <a:pPr algn="l">
              <a:lnSpc>
                <a:spcPts val="3161"/>
              </a:lnSpc>
            </a:pPr>
            <a:r>
              <a:rPr lang="en-US" sz="2026">
                <a:solidFill>
                  <a:srgbClr val="E0E4E6"/>
                </a:solidFill>
                <a:latin typeface="Barlow"/>
                <a:ea typeface="Barlow"/>
                <a:cs typeface="Barlow"/>
                <a:sym typeface="Barlow"/>
              </a:rPr>
              <a:t>All hardware and software modules were combined into a fully functional prototype capable of autonomous, touchless operation without manual intervention.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A081B">
                <a:alpha val="56078"/>
              </a:srgbClr>
            </a:solidFill>
          </p:spPr>
        </p:sp>
      </p:grpSp>
      <p:grpSp>
        <p:nvGrpSpPr>
          <p:cNvPr name="Group 6" id="6"/>
          <p:cNvGrpSpPr/>
          <p:nvPr/>
        </p:nvGrpSpPr>
        <p:grpSpPr>
          <a:xfrm rot="0">
            <a:off x="1092632" y="1173537"/>
            <a:ext cx="2979115" cy="575224"/>
            <a:chOff x="0" y="0"/>
            <a:chExt cx="3972154" cy="766966"/>
          </a:xfrm>
        </p:grpSpPr>
        <p:sp>
          <p:nvSpPr>
            <p:cNvPr name="Freeform 7" id="7"/>
            <p:cNvSpPr/>
            <p:nvPr/>
          </p:nvSpPr>
          <p:spPr>
            <a:xfrm flipH="false" flipV="false" rot="0">
              <a:off x="0" y="0"/>
              <a:ext cx="3972179" cy="767080"/>
            </a:xfrm>
            <a:custGeom>
              <a:avLst/>
              <a:gdLst/>
              <a:ahLst/>
              <a:cxnLst/>
              <a:rect r="r" b="b" t="t" l="l"/>
              <a:pathLst>
                <a:path h="767080" w="3972179">
                  <a:moveTo>
                    <a:pt x="0" y="383540"/>
                  </a:moveTo>
                  <a:cubicBezTo>
                    <a:pt x="0" y="171704"/>
                    <a:pt x="171704" y="0"/>
                    <a:pt x="383540" y="0"/>
                  </a:cubicBezTo>
                  <a:lnTo>
                    <a:pt x="3588639" y="0"/>
                  </a:lnTo>
                  <a:cubicBezTo>
                    <a:pt x="3800475" y="0"/>
                    <a:pt x="3972179" y="171704"/>
                    <a:pt x="3972179" y="383540"/>
                  </a:cubicBezTo>
                  <a:cubicBezTo>
                    <a:pt x="3972179" y="595376"/>
                    <a:pt x="3800475" y="767080"/>
                    <a:pt x="3588639" y="767080"/>
                  </a:cubicBezTo>
                  <a:lnTo>
                    <a:pt x="383540" y="767080"/>
                  </a:lnTo>
                  <a:cubicBezTo>
                    <a:pt x="171704" y="766953"/>
                    <a:pt x="0" y="595249"/>
                    <a:pt x="0" y="383540"/>
                  </a:cubicBezTo>
                  <a:close/>
                </a:path>
              </a:pathLst>
            </a:custGeom>
            <a:blipFill>
              <a:blip r:embed="rId4">
                <a:alphaModFix amt="0"/>
              </a:blip>
              <a:stretch>
                <a:fillRect l="0" t="-50906" r="0" b="-50891"/>
              </a:stretch>
            </a:blipFill>
            <a:ln w="19065" cap="sq">
              <a:solidFill>
                <a:srgbClr val="16FFBB"/>
              </a:solidFill>
              <a:prstDash val="solid"/>
              <a:miter/>
            </a:ln>
          </p:spPr>
        </p:sp>
      </p:grpSp>
      <p:sp>
        <p:nvSpPr>
          <p:cNvPr name="TextBox 8" id="8"/>
          <p:cNvSpPr txBox="true"/>
          <p:nvPr/>
        </p:nvSpPr>
        <p:spPr>
          <a:xfrm rot="0">
            <a:off x="1286551" y="1218124"/>
            <a:ext cx="3506362" cy="419376"/>
          </a:xfrm>
          <a:prstGeom prst="rect">
            <a:avLst/>
          </a:prstGeom>
        </p:spPr>
        <p:txBody>
          <a:bodyPr anchor="t" rtlCol="false" tIns="0" lIns="0" bIns="0" rIns="0">
            <a:spAutoFit/>
          </a:bodyPr>
          <a:lstStyle/>
          <a:p>
            <a:pPr algn="l">
              <a:lnSpc>
                <a:spcPts val="2755"/>
              </a:lnSpc>
            </a:pPr>
            <a:r>
              <a:rPr lang="en-US" sz="1726">
                <a:solidFill>
                  <a:srgbClr val="16FFBB"/>
                </a:solidFill>
                <a:latin typeface="Barlow"/>
                <a:ea typeface="Barlow"/>
                <a:cs typeface="Barlow"/>
                <a:sym typeface="Barlow"/>
              </a:rPr>
              <a:t>CHAPTER 3 · ENGINEERING</a:t>
            </a:r>
          </a:p>
        </p:txBody>
      </p:sp>
      <p:sp>
        <p:nvSpPr>
          <p:cNvPr name="TextBox 9" id="9"/>
          <p:cNvSpPr txBox="true"/>
          <p:nvPr/>
        </p:nvSpPr>
        <p:spPr>
          <a:xfrm rot="0">
            <a:off x="1102157" y="1811341"/>
            <a:ext cx="7038937" cy="803672"/>
          </a:xfrm>
          <a:prstGeom prst="rect">
            <a:avLst/>
          </a:prstGeom>
        </p:spPr>
        <p:txBody>
          <a:bodyPr anchor="t" rtlCol="false" tIns="0" lIns="0" bIns="0" rIns="0">
            <a:spAutoFit/>
          </a:bodyPr>
          <a:lstStyle/>
          <a:p>
            <a:pPr algn="l">
              <a:lnSpc>
                <a:spcPts val="5995"/>
              </a:lnSpc>
            </a:pPr>
            <a:r>
              <a:rPr lang="en-US" sz="4803" b="true">
                <a:solidFill>
                  <a:srgbClr val="F0FCFF"/>
                </a:solidFill>
                <a:latin typeface="Arimo Bold"/>
                <a:ea typeface="Arimo Bold"/>
                <a:cs typeface="Arimo Bold"/>
                <a:sym typeface="Arimo Bold"/>
              </a:rPr>
              <a:t>Engineering Details</a:t>
            </a:r>
          </a:p>
        </p:txBody>
      </p:sp>
      <p:grpSp>
        <p:nvGrpSpPr>
          <p:cNvPr name="Group 10" id="10"/>
          <p:cNvGrpSpPr/>
          <p:nvPr/>
        </p:nvGrpSpPr>
        <p:grpSpPr>
          <a:xfrm rot="0">
            <a:off x="903770" y="3028340"/>
            <a:ext cx="8109375" cy="6083637"/>
            <a:chOff x="0" y="0"/>
            <a:chExt cx="10812501" cy="8111515"/>
          </a:xfrm>
        </p:grpSpPr>
        <p:sp>
          <p:nvSpPr>
            <p:cNvPr name="Freeform 11" id="11"/>
            <p:cNvSpPr/>
            <p:nvPr/>
          </p:nvSpPr>
          <p:spPr>
            <a:xfrm flipH="false" flipV="false" rot="0">
              <a:off x="0" y="0"/>
              <a:ext cx="10812526" cy="8111490"/>
            </a:xfrm>
            <a:custGeom>
              <a:avLst/>
              <a:gdLst/>
              <a:ahLst/>
              <a:cxnLst/>
              <a:rect r="r" b="b" t="t" l="l"/>
              <a:pathLst>
                <a:path h="8111490" w="10812526">
                  <a:moveTo>
                    <a:pt x="0" y="881888"/>
                  </a:moveTo>
                  <a:cubicBezTo>
                    <a:pt x="0" y="394843"/>
                    <a:pt x="394843" y="0"/>
                    <a:pt x="881888" y="0"/>
                  </a:cubicBezTo>
                  <a:lnTo>
                    <a:pt x="9930638" y="0"/>
                  </a:lnTo>
                  <a:cubicBezTo>
                    <a:pt x="10417683" y="0"/>
                    <a:pt x="10812526" y="394843"/>
                    <a:pt x="10812526" y="881888"/>
                  </a:cubicBezTo>
                  <a:lnTo>
                    <a:pt x="10812526" y="7229602"/>
                  </a:lnTo>
                  <a:cubicBezTo>
                    <a:pt x="10812526" y="7716647"/>
                    <a:pt x="10417683" y="8111490"/>
                    <a:pt x="9930638" y="8111490"/>
                  </a:cubicBezTo>
                  <a:lnTo>
                    <a:pt x="881888" y="8111490"/>
                  </a:lnTo>
                  <a:cubicBezTo>
                    <a:pt x="394843" y="8111490"/>
                    <a:pt x="0" y="7716647"/>
                    <a:pt x="0" y="7229602"/>
                  </a:cubicBezTo>
                  <a:close/>
                </a:path>
              </a:pathLst>
            </a:custGeom>
            <a:solidFill>
              <a:srgbClr val="091231">
                <a:alpha val="56078"/>
              </a:srgbClr>
            </a:solidFill>
          </p:spPr>
        </p:sp>
      </p:grpSp>
      <p:sp>
        <p:nvSpPr>
          <p:cNvPr name="TextBox 12" id="12"/>
          <p:cNvSpPr txBox="true"/>
          <p:nvPr/>
        </p:nvSpPr>
        <p:spPr>
          <a:xfrm rot="0">
            <a:off x="1179309" y="3284839"/>
            <a:ext cx="4016188" cy="401841"/>
          </a:xfrm>
          <a:prstGeom prst="rect">
            <a:avLst/>
          </a:prstGeom>
        </p:spPr>
        <p:txBody>
          <a:bodyPr anchor="t" rtlCol="false" tIns="0" lIns="0" bIns="0" rIns="0">
            <a:spAutoFit/>
          </a:bodyPr>
          <a:lstStyle/>
          <a:p>
            <a:pPr algn="l">
              <a:lnSpc>
                <a:spcPts val="2997"/>
              </a:lnSpc>
            </a:pPr>
            <a:r>
              <a:rPr lang="en-US" sz="2401" b="true">
                <a:solidFill>
                  <a:srgbClr val="F0FCFF"/>
                </a:solidFill>
                <a:latin typeface="Arimo Bold"/>
                <a:ea typeface="Arimo Bold"/>
                <a:cs typeface="Arimo Bold"/>
                <a:sym typeface="Arimo Bold"/>
              </a:rPr>
              <a:t>Hardware Subsystem</a:t>
            </a:r>
          </a:p>
        </p:txBody>
      </p:sp>
      <p:sp>
        <p:nvSpPr>
          <p:cNvPr name="TextBox 13" id="13"/>
          <p:cNvSpPr txBox="true"/>
          <p:nvPr/>
        </p:nvSpPr>
        <p:spPr>
          <a:xfrm rot="0">
            <a:off x="1179309" y="3886019"/>
            <a:ext cx="7558297" cy="2666048"/>
          </a:xfrm>
          <a:prstGeom prst="rect">
            <a:avLst/>
          </a:prstGeom>
        </p:spPr>
        <p:txBody>
          <a:bodyPr anchor="t" rtlCol="false" tIns="0" lIns="0" bIns="0" rIns="0">
            <a:spAutoFit/>
          </a:bodyPr>
          <a:lstStyle/>
          <a:p>
            <a:pPr algn="l" marL="380641" indent="-190321" lvl="1">
              <a:lnSpc>
                <a:spcPts val="3354"/>
              </a:lnSpc>
              <a:buFont typeface="Arial"/>
              <a:buChar char="•"/>
            </a:pPr>
            <a:r>
              <a:rPr lang="en-US" b="true" sz="2101">
                <a:solidFill>
                  <a:srgbClr val="E0E4E6"/>
                </a:solidFill>
                <a:latin typeface="Barlow Bold"/>
                <a:ea typeface="Barlow Bold"/>
                <a:cs typeface="Barlow Bold"/>
                <a:sym typeface="Barlow Bold"/>
              </a:rPr>
              <a:t>Arduino Uno</a:t>
            </a:r>
            <a:r>
              <a:rPr lang="en-US" sz="2101">
                <a:solidFill>
                  <a:srgbClr val="E0E4E6"/>
                </a:solidFill>
                <a:latin typeface="Barlow"/>
                <a:ea typeface="Barlow"/>
                <a:cs typeface="Barlow"/>
                <a:sym typeface="Barlow"/>
              </a:rPr>
              <a:t> — Central microcontroller</a:t>
            </a:r>
          </a:p>
          <a:p>
            <a:pPr algn="l" marL="380641" indent="-190321" lvl="1">
              <a:lnSpc>
                <a:spcPts val="3354"/>
              </a:lnSpc>
              <a:buFont typeface="Arial"/>
              <a:buChar char="•"/>
            </a:pPr>
            <a:r>
              <a:rPr lang="en-US" b="true" sz="2101">
                <a:solidFill>
                  <a:srgbClr val="E0E4E6"/>
                </a:solidFill>
                <a:latin typeface="Barlow Bold"/>
                <a:ea typeface="Barlow Bold"/>
                <a:cs typeface="Barlow Bold"/>
                <a:sym typeface="Barlow Bold"/>
              </a:rPr>
              <a:t>HC-SR04</a:t>
            </a:r>
            <a:r>
              <a:rPr lang="en-US" sz="2101">
                <a:solidFill>
                  <a:srgbClr val="E0E4E6"/>
                </a:solidFill>
                <a:latin typeface="Barlow"/>
                <a:ea typeface="Barlow"/>
                <a:cs typeface="Barlow"/>
                <a:sym typeface="Barlow"/>
              </a:rPr>
              <a:t> — Ultrasonic distance sensor</a:t>
            </a:r>
          </a:p>
          <a:p>
            <a:pPr algn="l" marL="380641" indent="-190321" lvl="1">
              <a:lnSpc>
                <a:spcPts val="3354"/>
              </a:lnSpc>
              <a:buFont typeface="Arial"/>
              <a:buChar char="•"/>
            </a:pPr>
            <a:r>
              <a:rPr lang="en-US" b="true" sz="2101">
                <a:solidFill>
                  <a:srgbClr val="E0E4E6"/>
                </a:solidFill>
                <a:latin typeface="Barlow Bold"/>
                <a:ea typeface="Barlow Bold"/>
                <a:cs typeface="Barlow Bold"/>
                <a:sym typeface="Barlow Bold"/>
              </a:rPr>
              <a:t>SG90</a:t>
            </a:r>
            <a:r>
              <a:rPr lang="en-US" sz="2101">
                <a:solidFill>
                  <a:srgbClr val="E0E4E6"/>
                </a:solidFill>
                <a:latin typeface="Barlow"/>
                <a:ea typeface="Barlow"/>
                <a:cs typeface="Barlow"/>
                <a:sym typeface="Barlow"/>
              </a:rPr>
              <a:t> — Servo motor actuator</a:t>
            </a:r>
          </a:p>
          <a:p>
            <a:pPr algn="l" marL="380641" indent="-190321" lvl="1">
              <a:lnSpc>
                <a:spcPts val="3354"/>
              </a:lnSpc>
              <a:buFont typeface="Arial"/>
              <a:buChar char="•"/>
            </a:pPr>
            <a:r>
              <a:rPr lang="en-US" b="true" sz="2101">
                <a:solidFill>
                  <a:srgbClr val="E0E4E6"/>
                </a:solidFill>
                <a:latin typeface="Barlow Bold"/>
                <a:ea typeface="Barlow Bold"/>
                <a:cs typeface="Barlow Bold"/>
                <a:sym typeface="Barlow Bold"/>
              </a:rPr>
              <a:t>16×2 LCD</a:t>
            </a:r>
            <a:r>
              <a:rPr lang="en-US" sz="2101">
                <a:solidFill>
                  <a:srgbClr val="E0E4E6"/>
                </a:solidFill>
                <a:latin typeface="Barlow"/>
                <a:ea typeface="Barlow"/>
                <a:cs typeface="Barlow"/>
                <a:sym typeface="Barlow"/>
              </a:rPr>
              <a:t> — Display module</a:t>
            </a:r>
          </a:p>
          <a:p>
            <a:pPr algn="l" marL="380641" indent="-190321" lvl="1">
              <a:lnSpc>
                <a:spcPts val="3354"/>
              </a:lnSpc>
              <a:buFont typeface="Arial"/>
              <a:buChar char="•"/>
            </a:pPr>
            <a:r>
              <a:rPr lang="en-US" b="true" sz="2101">
                <a:solidFill>
                  <a:srgbClr val="E0E4E6"/>
                </a:solidFill>
                <a:latin typeface="Barlow Bold"/>
                <a:ea typeface="Barlow Bold"/>
                <a:cs typeface="Barlow Bold"/>
                <a:sym typeface="Barlow Bold"/>
              </a:rPr>
              <a:t>External Battery Supply</a:t>
            </a:r>
            <a:r>
              <a:rPr lang="en-US" sz="2101">
                <a:solidFill>
                  <a:srgbClr val="E0E4E6"/>
                </a:solidFill>
                <a:latin typeface="Barlow"/>
                <a:ea typeface="Barlow"/>
                <a:cs typeface="Barlow"/>
                <a:sym typeface="Barlow"/>
              </a:rPr>
              <a:t> — Dedicated power source</a:t>
            </a:r>
          </a:p>
        </p:txBody>
      </p:sp>
      <p:sp>
        <p:nvSpPr>
          <p:cNvPr name="TextBox 14" id="14"/>
          <p:cNvSpPr txBox="true"/>
          <p:nvPr/>
        </p:nvSpPr>
        <p:spPr>
          <a:xfrm rot="0">
            <a:off x="9496616" y="3284839"/>
            <a:ext cx="3977021" cy="401841"/>
          </a:xfrm>
          <a:prstGeom prst="rect">
            <a:avLst/>
          </a:prstGeom>
        </p:spPr>
        <p:txBody>
          <a:bodyPr anchor="t" rtlCol="false" tIns="0" lIns="0" bIns="0" rIns="0">
            <a:spAutoFit/>
          </a:bodyPr>
          <a:lstStyle/>
          <a:p>
            <a:pPr algn="l">
              <a:lnSpc>
                <a:spcPts val="2997"/>
              </a:lnSpc>
            </a:pPr>
            <a:r>
              <a:rPr lang="en-US" sz="2401" b="true">
                <a:solidFill>
                  <a:srgbClr val="F0FCFF"/>
                </a:solidFill>
                <a:latin typeface="Arimo Bold"/>
                <a:ea typeface="Arimo Bold"/>
                <a:cs typeface="Arimo Bold"/>
                <a:sym typeface="Arimo Bold"/>
              </a:rPr>
              <a:t>Software Subsystem</a:t>
            </a:r>
          </a:p>
        </p:txBody>
      </p:sp>
      <p:sp>
        <p:nvSpPr>
          <p:cNvPr name="TextBox 15" id="15"/>
          <p:cNvSpPr txBox="true"/>
          <p:nvPr/>
        </p:nvSpPr>
        <p:spPr>
          <a:xfrm rot="0">
            <a:off x="9496616" y="3886019"/>
            <a:ext cx="7712602" cy="2280580"/>
          </a:xfrm>
          <a:prstGeom prst="rect">
            <a:avLst/>
          </a:prstGeom>
        </p:spPr>
        <p:txBody>
          <a:bodyPr anchor="t" rtlCol="false" tIns="0" lIns="0" bIns="0" rIns="0">
            <a:spAutoFit/>
          </a:bodyPr>
          <a:lstStyle/>
          <a:p>
            <a:pPr algn="l">
              <a:lnSpc>
                <a:spcPts val="3354"/>
              </a:lnSpc>
            </a:pPr>
            <a:r>
              <a:rPr lang="en-US" sz="2101">
                <a:solidFill>
                  <a:srgbClr val="E0E4E6"/>
                </a:solidFill>
                <a:latin typeface="Barlow"/>
                <a:ea typeface="Barlow"/>
                <a:cs typeface="Barlow"/>
                <a:sym typeface="Barlow"/>
              </a:rPr>
              <a:t>The firmware continuously monitors distance measurements from the ultrasonic sensor and activates the dispensing mechanism whenever a user enters the predefined sensing range. The control algorithm is designed to debounce sensor readings and prevent false triggers.</a:t>
            </a:r>
          </a:p>
        </p:txBody>
      </p:sp>
      <p:sp>
        <p:nvSpPr>
          <p:cNvPr name="TextBox 16" id="16"/>
          <p:cNvSpPr txBox="true"/>
          <p:nvPr/>
        </p:nvSpPr>
        <p:spPr>
          <a:xfrm rot="0">
            <a:off x="9496616" y="6423098"/>
            <a:ext cx="3977021" cy="401841"/>
          </a:xfrm>
          <a:prstGeom prst="rect">
            <a:avLst/>
          </a:prstGeom>
        </p:spPr>
        <p:txBody>
          <a:bodyPr anchor="t" rtlCol="false" tIns="0" lIns="0" bIns="0" rIns="0">
            <a:spAutoFit/>
          </a:bodyPr>
          <a:lstStyle/>
          <a:p>
            <a:pPr algn="l">
              <a:lnSpc>
                <a:spcPts val="2997"/>
              </a:lnSpc>
            </a:pPr>
            <a:r>
              <a:rPr lang="en-US" sz="2401" b="true">
                <a:solidFill>
                  <a:srgbClr val="F0FCFF"/>
                </a:solidFill>
                <a:latin typeface="Arimo Bold"/>
                <a:ea typeface="Arimo Bold"/>
                <a:cs typeface="Arimo Bold"/>
                <a:sym typeface="Arimo Bold"/>
              </a:rPr>
              <a:t>Control Logic</a:t>
            </a:r>
          </a:p>
        </p:txBody>
      </p:sp>
      <p:sp>
        <p:nvSpPr>
          <p:cNvPr name="TextBox 17" id="17"/>
          <p:cNvSpPr txBox="true"/>
          <p:nvPr/>
        </p:nvSpPr>
        <p:spPr>
          <a:xfrm rot="0">
            <a:off x="9496616" y="7024278"/>
            <a:ext cx="7712602" cy="1839706"/>
          </a:xfrm>
          <a:prstGeom prst="rect">
            <a:avLst/>
          </a:prstGeom>
        </p:spPr>
        <p:txBody>
          <a:bodyPr anchor="t" rtlCol="false" tIns="0" lIns="0" bIns="0" rIns="0">
            <a:spAutoFit/>
          </a:bodyPr>
          <a:lstStyle/>
          <a:p>
            <a:pPr algn="l">
              <a:lnSpc>
                <a:spcPts val="3354"/>
              </a:lnSpc>
            </a:pPr>
            <a:r>
              <a:rPr lang="en-US" sz="2101">
                <a:solidFill>
                  <a:srgbClr val="E0E4E6"/>
                </a:solidFill>
                <a:latin typeface="Barlow"/>
                <a:ea typeface="Barlow"/>
                <a:cs typeface="Barlow"/>
                <a:sym typeface="Barlow"/>
              </a:rPr>
              <a:t>The control algorithm ensures that water is dispensed only when required, reducing unnecessary consumption and improving overall system efficiency. Dispensing duration is precisely controlled through servo angle positioning.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A081B">
                <a:alpha val="56078"/>
              </a:srgbClr>
            </a:solidFill>
          </p:spPr>
        </p:sp>
      </p:grpSp>
      <p:grpSp>
        <p:nvGrpSpPr>
          <p:cNvPr name="Group 6" id="6"/>
          <p:cNvGrpSpPr/>
          <p:nvPr/>
        </p:nvGrpSpPr>
        <p:grpSpPr>
          <a:xfrm rot="0">
            <a:off x="1092632" y="716362"/>
            <a:ext cx="2815291" cy="678051"/>
            <a:chOff x="0" y="0"/>
            <a:chExt cx="3145231" cy="757515"/>
          </a:xfrm>
        </p:grpSpPr>
        <p:sp>
          <p:nvSpPr>
            <p:cNvPr name="Freeform 7" id="7"/>
            <p:cNvSpPr/>
            <p:nvPr/>
          </p:nvSpPr>
          <p:spPr>
            <a:xfrm flipH="false" flipV="false" rot="0">
              <a:off x="0" y="0"/>
              <a:ext cx="3145282" cy="757566"/>
            </a:xfrm>
            <a:custGeom>
              <a:avLst/>
              <a:gdLst/>
              <a:ahLst/>
              <a:cxnLst/>
              <a:rect r="r" b="b" t="t" l="l"/>
              <a:pathLst>
                <a:path h="757566" w="3145282">
                  <a:moveTo>
                    <a:pt x="0" y="378795"/>
                  </a:moveTo>
                  <a:cubicBezTo>
                    <a:pt x="0" y="169590"/>
                    <a:pt x="114173" y="0"/>
                    <a:pt x="255016" y="0"/>
                  </a:cubicBezTo>
                  <a:lnTo>
                    <a:pt x="2890266" y="0"/>
                  </a:lnTo>
                  <a:cubicBezTo>
                    <a:pt x="3031109" y="0"/>
                    <a:pt x="3145282" y="169590"/>
                    <a:pt x="3145282" y="378795"/>
                  </a:cubicBezTo>
                  <a:cubicBezTo>
                    <a:pt x="3145282" y="588000"/>
                    <a:pt x="3031109" y="757566"/>
                    <a:pt x="2890266" y="757566"/>
                  </a:cubicBezTo>
                  <a:lnTo>
                    <a:pt x="255016" y="757566"/>
                  </a:lnTo>
                  <a:cubicBezTo>
                    <a:pt x="114173" y="757566"/>
                    <a:pt x="0" y="588000"/>
                    <a:pt x="0" y="378795"/>
                  </a:cubicBezTo>
                  <a:close/>
                </a:path>
              </a:pathLst>
            </a:custGeom>
            <a:blipFill>
              <a:blip r:embed="rId4">
                <a:alphaModFix amt="0"/>
              </a:blip>
              <a:stretch>
                <a:fillRect l="0" t="-47237" r="1" b="-14556"/>
              </a:stretch>
            </a:blipFill>
            <a:ln w="19065" cap="sq">
              <a:solidFill>
                <a:srgbClr val="16FFBB"/>
              </a:solidFill>
              <a:prstDash val="solid"/>
              <a:miter/>
            </a:ln>
          </p:spPr>
        </p:sp>
      </p:grpSp>
      <p:sp>
        <p:nvSpPr>
          <p:cNvPr name="TextBox 8" id="8"/>
          <p:cNvSpPr txBox="true"/>
          <p:nvPr/>
        </p:nvSpPr>
        <p:spPr>
          <a:xfrm rot="0">
            <a:off x="1295038" y="922618"/>
            <a:ext cx="2985373" cy="246489"/>
          </a:xfrm>
          <a:prstGeom prst="rect">
            <a:avLst/>
          </a:prstGeom>
        </p:spPr>
        <p:txBody>
          <a:bodyPr anchor="t" rtlCol="false" tIns="0" lIns="0" bIns="0" rIns="0">
            <a:spAutoFit/>
          </a:bodyPr>
          <a:lstStyle/>
          <a:p>
            <a:pPr algn="l">
              <a:lnSpc>
                <a:spcPts val="2035"/>
              </a:lnSpc>
            </a:pPr>
            <a:r>
              <a:rPr lang="en-US" sz="1500">
                <a:solidFill>
                  <a:srgbClr val="16FFBB"/>
                </a:solidFill>
                <a:latin typeface="Barlow"/>
                <a:ea typeface="Barlow"/>
                <a:cs typeface="Barlow"/>
                <a:sym typeface="Barlow"/>
              </a:rPr>
              <a:t>CHAPTER 4 · PROJECT STATUS</a:t>
            </a:r>
          </a:p>
        </p:txBody>
      </p:sp>
      <p:sp>
        <p:nvSpPr>
          <p:cNvPr name="TextBox 9" id="9"/>
          <p:cNvSpPr txBox="true"/>
          <p:nvPr/>
        </p:nvSpPr>
        <p:spPr>
          <a:xfrm rot="0">
            <a:off x="1102157" y="1391174"/>
            <a:ext cx="8182661" cy="583378"/>
          </a:xfrm>
          <a:prstGeom prst="rect">
            <a:avLst/>
          </a:prstGeom>
        </p:spPr>
        <p:txBody>
          <a:bodyPr anchor="t" rtlCol="false" tIns="0" lIns="0" bIns="0" rIns="0">
            <a:spAutoFit/>
          </a:bodyPr>
          <a:lstStyle/>
          <a:p>
            <a:pPr algn="l">
              <a:lnSpc>
                <a:spcPts val="4121"/>
              </a:lnSpc>
            </a:pPr>
            <a:r>
              <a:rPr lang="en-US" sz="3302" b="true">
                <a:solidFill>
                  <a:srgbClr val="F0FCFF"/>
                </a:solidFill>
                <a:latin typeface="Arimo Bold"/>
                <a:ea typeface="Arimo Bold"/>
                <a:cs typeface="Arimo Bold"/>
                <a:sym typeface="Arimo Bold"/>
              </a:rPr>
              <a:t>Project Status &amp; Prototype Outcome</a:t>
            </a:r>
          </a:p>
        </p:txBody>
      </p:sp>
      <p:sp>
        <p:nvSpPr>
          <p:cNvPr name="TextBox 10" id="10"/>
          <p:cNvSpPr txBox="true"/>
          <p:nvPr/>
        </p:nvSpPr>
        <p:spPr>
          <a:xfrm rot="0">
            <a:off x="1102157" y="2157927"/>
            <a:ext cx="17012612" cy="254028"/>
          </a:xfrm>
          <a:prstGeom prst="rect">
            <a:avLst/>
          </a:prstGeom>
        </p:spPr>
        <p:txBody>
          <a:bodyPr anchor="t" rtlCol="false" tIns="0" lIns="0" bIns="0" rIns="0">
            <a:spAutoFit/>
          </a:bodyPr>
          <a:lstStyle/>
          <a:p>
            <a:pPr algn="l">
              <a:lnSpc>
                <a:spcPts val="2171"/>
              </a:lnSpc>
            </a:pPr>
            <a:r>
              <a:rPr lang="en-US" sz="1601">
                <a:solidFill>
                  <a:srgbClr val="E0E4E6"/>
                </a:solidFill>
                <a:latin typeface="Barlow"/>
                <a:ea typeface="Barlow"/>
                <a:cs typeface="Barlow"/>
                <a:sym typeface="Barlow"/>
              </a:rPr>
              <a:t>The Automatic Water Dispenser has successfully completed all planned development milestones. The prototype is fully operational and demonstrates reliable touchless dispensing behavior.</a:t>
            </a:r>
          </a:p>
        </p:txBody>
      </p:sp>
      <p:grpSp>
        <p:nvGrpSpPr>
          <p:cNvPr name="Group 11" id="11"/>
          <p:cNvGrpSpPr/>
          <p:nvPr/>
        </p:nvGrpSpPr>
        <p:grpSpPr>
          <a:xfrm rot="0">
            <a:off x="1092632" y="2581504"/>
            <a:ext cx="8000352" cy="1767526"/>
            <a:chOff x="0" y="0"/>
            <a:chExt cx="10667136" cy="2356701"/>
          </a:xfrm>
        </p:grpSpPr>
        <p:sp>
          <p:nvSpPr>
            <p:cNvPr name="Freeform 12" id="12"/>
            <p:cNvSpPr/>
            <p:nvPr/>
          </p:nvSpPr>
          <p:spPr>
            <a:xfrm flipH="false" flipV="false" rot="0">
              <a:off x="0" y="0"/>
              <a:ext cx="10667111" cy="2356739"/>
            </a:xfrm>
            <a:custGeom>
              <a:avLst/>
              <a:gdLst/>
              <a:ahLst/>
              <a:cxnLst/>
              <a:rect r="r" b="b" t="t" l="l"/>
              <a:pathLst>
                <a:path h="2356739" w="10667111">
                  <a:moveTo>
                    <a:pt x="0" y="390017"/>
                  </a:moveTo>
                  <a:cubicBezTo>
                    <a:pt x="0" y="174625"/>
                    <a:pt x="174625" y="0"/>
                    <a:pt x="390017" y="0"/>
                  </a:cubicBezTo>
                  <a:lnTo>
                    <a:pt x="10277094" y="0"/>
                  </a:lnTo>
                  <a:cubicBezTo>
                    <a:pt x="10492486" y="0"/>
                    <a:pt x="10667111" y="174625"/>
                    <a:pt x="10667111" y="390017"/>
                  </a:cubicBezTo>
                  <a:lnTo>
                    <a:pt x="10667111" y="1966722"/>
                  </a:lnTo>
                  <a:cubicBezTo>
                    <a:pt x="10667111" y="2182114"/>
                    <a:pt x="10492486" y="2356739"/>
                    <a:pt x="10277094" y="2356739"/>
                  </a:cubicBezTo>
                  <a:lnTo>
                    <a:pt x="390017" y="2356739"/>
                  </a:lnTo>
                  <a:cubicBezTo>
                    <a:pt x="174625" y="2356739"/>
                    <a:pt x="0" y="2182114"/>
                    <a:pt x="0" y="1966722"/>
                  </a:cubicBezTo>
                  <a:close/>
                </a:path>
              </a:pathLst>
            </a:custGeom>
            <a:solidFill>
              <a:srgbClr val="0A081B"/>
            </a:solidFill>
            <a:ln w="19065" cap="sq">
              <a:solidFill>
                <a:srgbClr val="16FFBB"/>
              </a:solidFill>
              <a:prstDash val="solid"/>
              <a:miter/>
            </a:ln>
          </p:spPr>
        </p:sp>
      </p:grpSp>
      <p:grpSp>
        <p:nvGrpSpPr>
          <p:cNvPr name="Group 13" id="13"/>
          <p:cNvGrpSpPr/>
          <p:nvPr/>
        </p:nvGrpSpPr>
        <p:grpSpPr>
          <a:xfrm rot="0">
            <a:off x="1314107" y="2802988"/>
            <a:ext cx="578634" cy="578653"/>
            <a:chOff x="0" y="0"/>
            <a:chExt cx="771512" cy="771538"/>
          </a:xfrm>
        </p:grpSpPr>
        <p:sp>
          <p:nvSpPr>
            <p:cNvPr name="Freeform 14" id="14"/>
            <p:cNvSpPr/>
            <p:nvPr/>
          </p:nvSpPr>
          <p:spPr>
            <a:xfrm flipH="false" flipV="false" rot="0">
              <a:off x="0" y="0"/>
              <a:ext cx="771525" cy="771398"/>
            </a:xfrm>
            <a:custGeom>
              <a:avLst/>
              <a:gdLst/>
              <a:ahLst/>
              <a:cxnLst/>
              <a:rect r="r" b="b" t="t" l="l"/>
              <a:pathLst>
                <a:path h="771398" w="771525">
                  <a:moveTo>
                    <a:pt x="0" y="385699"/>
                  </a:moveTo>
                  <a:cubicBezTo>
                    <a:pt x="0" y="172720"/>
                    <a:pt x="172720" y="0"/>
                    <a:pt x="385699" y="0"/>
                  </a:cubicBezTo>
                  <a:cubicBezTo>
                    <a:pt x="598678" y="0"/>
                    <a:pt x="771525" y="172720"/>
                    <a:pt x="771525" y="385699"/>
                  </a:cubicBezTo>
                  <a:cubicBezTo>
                    <a:pt x="771525" y="598805"/>
                    <a:pt x="598805" y="771398"/>
                    <a:pt x="385826" y="771398"/>
                  </a:cubicBezTo>
                  <a:cubicBezTo>
                    <a:pt x="172847" y="771398"/>
                    <a:pt x="0" y="598805"/>
                    <a:pt x="0" y="385826"/>
                  </a:cubicBezTo>
                  <a:close/>
                </a:path>
              </a:pathLst>
            </a:custGeom>
            <a:solidFill>
              <a:srgbClr val="16FFBB"/>
            </a:solidFill>
          </p:spPr>
        </p:sp>
      </p:grpSp>
      <p:sp>
        <p:nvSpPr>
          <p:cNvPr name="Freeform 15" id="15" descr="preencoded.png"/>
          <p:cNvSpPr/>
          <p:nvPr/>
        </p:nvSpPr>
        <p:spPr>
          <a:xfrm flipH="false" flipV="false" rot="0">
            <a:off x="1473175" y="2962056"/>
            <a:ext cx="260347" cy="260356"/>
          </a:xfrm>
          <a:custGeom>
            <a:avLst/>
            <a:gdLst/>
            <a:ahLst/>
            <a:cxnLst/>
            <a:rect r="r" b="b" t="t" l="l"/>
            <a:pathLst>
              <a:path h="260356" w="260347">
                <a:moveTo>
                  <a:pt x="0" y="0"/>
                </a:moveTo>
                <a:lnTo>
                  <a:pt x="260346" y="0"/>
                </a:lnTo>
                <a:lnTo>
                  <a:pt x="260346" y="260356"/>
                </a:lnTo>
                <a:lnTo>
                  <a:pt x="0" y="260356"/>
                </a:lnTo>
                <a:lnTo>
                  <a:pt x="0" y="0"/>
                </a:lnTo>
                <a:close/>
              </a:path>
            </a:pathLst>
          </a:custGeom>
          <a:blipFill>
            <a:blip r:embed="rId5">
              <a:extLst>
                <a:ext uri="{96DAC541-7B7A-43D3-8B79-37D633B846F1}">
                  <asvg:svgBlip xmlns:asvg="http://schemas.microsoft.com/office/drawing/2016/SVG/main" r:embed="rId6"/>
                </a:ext>
              </a:extLst>
            </a:blip>
            <a:stretch>
              <a:fillRect l="-21431" t="0" r="-21428" b="0"/>
            </a:stretch>
          </a:blipFill>
        </p:spPr>
      </p:sp>
      <p:sp>
        <p:nvSpPr>
          <p:cNvPr name="TextBox 16" id="16"/>
          <p:cNvSpPr txBox="true"/>
          <p:nvPr/>
        </p:nvSpPr>
        <p:spPr>
          <a:xfrm rot="0">
            <a:off x="1314107" y="3488007"/>
            <a:ext cx="2322909" cy="294124"/>
          </a:xfrm>
          <a:prstGeom prst="rect">
            <a:avLst/>
          </a:prstGeom>
        </p:spPr>
        <p:txBody>
          <a:bodyPr anchor="t" rtlCol="false" tIns="0" lIns="0" bIns="0" rIns="0">
            <a:spAutoFit/>
          </a:bodyPr>
          <a:lstStyle/>
          <a:p>
            <a:pPr algn="l">
              <a:lnSpc>
                <a:spcPts val="2185"/>
              </a:lnSpc>
            </a:pPr>
            <a:r>
              <a:rPr lang="en-US" sz="1751" b="true">
                <a:solidFill>
                  <a:srgbClr val="E0E4E6"/>
                </a:solidFill>
                <a:latin typeface="Arimo Bold"/>
                <a:ea typeface="Arimo Bold"/>
                <a:cs typeface="Arimo Bold"/>
                <a:sym typeface="Arimo Bold"/>
              </a:rPr>
              <a:t>Architecture Finalized</a:t>
            </a:r>
          </a:p>
        </p:txBody>
      </p:sp>
      <p:sp>
        <p:nvSpPr>
          <p:cNvPr name="TextBox 17" id="17"/>
          <p:cNvSpPr txBox="true"/>
          <p:nvPr/>
        </p:nvSpPr>
        <p:spPr>
          <a:xfrm rot="0">
            <a:off x="1314107" y="3846205"/>
            <a:ext cx="7557402" cy="254028"/>
          </a:xfrm>
          <a:prstGeom prst="rect">
            <a:avLst/>
          </a:prstGeom>
        </p:spPr>
        <p:txBody>
          <a:bodyPr anchor="t" rtlCol="false" tIns="0" lIns="0" bIns="0" rIns="0">
            <a:spAutoFit/>
          </a:bodyPr>
          <a:lstStyle/>
          <a:p>
            <a:pPr algn="l">
              <a:lnSpc>
                <a:spcPts val="2171"/>
              </a:lnSpc>
            </a:pPr>
            <a:r>
              <a:rPr lang="en-US" sz="1601">
                <a:solidFill>
                  <a:srgbClr val="E0E4E6"/>
                </a:solidFill>
                <a:latin typeface="Barlow"/>
                <a:ea typeface="Barlow"/>
                <a:cs typeface="Barlow"/>
                <a:sym typeface="Barlow"/>
              </a:rPr>
              <a:t>System architecture and component selection completed and validated.</a:t>
            </a:r>
          </a:p>
        </p:txBody>
      </p:sp>
      <p:grpSp>
        <p:nvGrpSpPr>
          <p:cNvPr name="Group 18" id="18"/>
          <p:cNvGrpSpPr/>
          <p:nvPr/>
        </p:nvGrpSpPr>
        <p:grpSpPr>
          <a:xfrm rot="0">
            <a:off x="9208856" y="2581504"/>
            <a:ext cx="8000352" cy="1767526"/>
            <a:chOff x="0" y="0"/>
            <a:chExt cx="10667136" cy="2356701"/>
          </a:xfrm>
        </p:grpSpPr>
        <p:sp>
          <p:nvSpPr>
            <p:cNvPr name="Freeform 19" id="19"/>
            <p:cNvSpPr/>
            <p:nvPr/>
          </p:nvSpPr>
          <p:spPr>
            <a:xfrm flipH="false" flipV="false" rot="0">
              <a:off x="0" y="0"/>
              <a:ext cx="10667111" cy="2356739"/>
            </a:xfrm>
            <a:custGeom>
              <a:avLst/>
              <a:gdLst/>
              <a:ahLst/>
              <a:cxnLst/>
              <a:rect r="r" b="b" t="t" l="l"/>
              <a:pathLst>
                <a:path h="2356739" w="10667111">
                  <a:moveTo>
                    <a:pt x="0" y="390017"/>
                  </a:moveTo>
                  <a:cubicBezTo>
                    <a:pt x="0" y="174625"/>
                    <a:pt x="174625" y="0"/>
                    <a:pt x="390017" y="0"/>
                  </a:cubicBezTo>
                  <a:lnTo>
                    <a:pt x="10277094" y="0"/>
                  </a:lnTo>
                  <a:cubicBezTo>
                    <a:pt x="10492486" y="0"/>
                    <a:pt x="10667111" y="174625"/>
                    <a:pt x="10667111" y="390017"/>
                  </a:cubicBezTo>
                  <a:lnTo>
                    <a:pt x="10667111" y="1966722"/>
                  </a:lnTo>
                  <a:cubicBezTo>
                    <a:pt x="10667111" y="2182114"/>
                    <a:pt x="10492486" y="2356739"/>
                    <a:pt x="10277094" y="2356739"/>
                  </a:cubicBezTo>
                  <a:lnTo>
                    <a:pt x="390017" y="2356739"/>
                  </a:lnTo>
                  <a:cubicBezTo>
                    <a:pt x="174625" y="2356739"/>
                    <a:pt x="0" y="2182114"/>
                    <a:pt x="0" y="1966722"/>
                  </a:cubicBezTo>
                  <a:close/>
                </a:path>
              </a:pathLst>
            </a:custGeom>
            <a:solidFill>
              <a:srgbClr val="0A081B"/>
            </a:solidFill>
            <a:ln w="19065" cap="sq">
              <a:solidFill>
                <a:srgbClr val="29DDDA"/>
              </a:solidFill>
              <a:prstDash val="solid"/>
              <a:miter/>
            </a:ln>
          </p:spPr>
        </p:sp>
      </p:grpSp>
      <p:grpSp>
        <p:nvGrpSpPr>
          <p:cNvPr name="Group 20" id="20"/>
          <p:cNvGrpSpPr/>
          <p:nvPr/>
        </p:nvGrpSpPr>
        <p:grpSpPr>
          <a:xfrm rot="0">
            <a:off x="9430331" y="2802988"/>
            <a:ext cx="578634" cy="578653"/>
            <a:chOff x="0" y="0"/>
            <a:chExt cx="771512" cy="771538"/>
          </a:xfrm>
        </p:grpSpPr>
        <p:sp>
          <p:nvSpPr>
            <p:cNvPr name="Freeform 21" id="21"/>
            <p:cNvSpPr/>
            <p:nvPr/>
          </p:nvSpPr>
          <p:spPr>
            <a:xfrm flipH="false" flipV="false" rot="0">
              <a:off x="0" y="0"/>
              <a:ext cx="771525" cy="771398"/>
            </a:xfrm>
            <a:custGeom>
              <a:avLst/>
              <a:gdLst/>
              <a:ahLst/>
              <a:cxnLst/>
              <a:rect r="r" b="b" t="t" l="l"/>
              <a:pathLst>
                <a:path h="771398" w="771525">
                  <a:moveTo>
                    <a:pt x="0" y="385699"/>
                  </a:moveTo>
                  <a:cubicBezTo>
                    <a:pt x="0" y="172720"/>
                    <a:pt x="172720" y="0"/>
                    <a:pt x="385699" y="0"/>
                  </a:cubicBezTo>
                  <a:cubicBezTo>
                    <a:pt x="598678" y="0"/>
                    <a:pt x="771525" y="172720"/>
                    <a:pt x="771525" y="385699"/>
                  </a:cubicBezTo>
                  <a:cubicBezTo>
                    <a:pt x="771525" y="598805"/>
                    <a:pt x="598805" y="771398"/>
                    <a:pt x="385826" y="771398"/>
                  </a:cubicBezTo>
                  <a:cubicBezTo>
                    <a:pt x="172847" y="771398"/>
                    <a:pt x="0" y="598805"/>
                    <a:pt x="0" y="385826"/>
                  </a:cubicBezTo>
                  <a:close/>
                </a:path>
              </a:pathLst>
            </a:custGeom>
            <a:solidFill>
              <a:srgbClr val="29DDDA"/>
            </a:solidFill>
          </p:spPr>
        </p:sp>
      </p:grpSp>
      <p:sp>
        <p:nvSpPr>
          <p:cNvPr name="Freeform 22" id="22" descr="preencoded.png"/>
          <p:cNvSpPr/>
          <p:nvPr/>
        </p:nvSpPr>
        <p:spPr>
          <a:xfrm flipH="false" flipV="false" rot="0">
            <a:off x="9589399" y="2962056"/>
            <a:ext cx="260347" cy="260356"/>
          </a:xfrm>
          <a:custGeom>
            <a:avLst/>
            <a:gdLst/>
            <a:ahLst/>
            <a:cxnLst/>
            <a:rect r="r" b="b" t="t" l="l"/>
            <a:pathLst>
              <a:path h="260356" w="260347">
                <a:moveTo>
                  <a:pt x="0" y="0"/>
                </a:moveTo>
                <a:lnTo>
                  <a:pt x="260346" y="0"/>
                </a:lnTo>
                <a:lnTo>
                  <a:pt x="260346" y="260356"/>
                </a:lnTo>
                <a:lnTo>
                  <a:pt x="0" y="260356"/>
                </a:lnTo>
                <a:lnTo>
                  <a:pt x="0" y="0"/>
                </a:lnTo>
                <a:close/>
              </a:path>
            </a:pathLst>
          </a:custGeom>
          <a:blipFill>
            <a:blip r:embed="rId7">
              <a:extLst>
                <a:ext uri="{96DAC541-7B7A-43D3-8B79-37D633B846F1}">
                  <asvg:svgBlip xmlns:asvg="http://schemas.microsoft.com/office/drawing/2016/SVG/main" r:embed="rId8"/>
                </a:ext>
              </a:extLst>
            </a:blip>
            <a:stretch>
              <a:fillRect l="-5359" t="0" r="-5356" b="0"/>
            </a:stretch>
          </a:blipFill>
        </p:spPr>
      </p:sp>
      <p:sp>
        <p:nvSpPr>
          <p:cNvPr name="TextBox 23" id="23"/>
          <p:cNvSpPr txBox="true"/>
          <p:nvPr/>
        </p:nvSpPr>
        <p:spPr>
          <a:xfrm rot="0">
            <a:off x="9430331" y="3488007"/>
            <a:ext cx="1952387" cy="294124"/>
          </a:xfrm>
          <a:prstGeom prst="rect">
            <a:avLst/>
          </a:prstGeom>
        </p:spPr>
        <p:txBody>
          <a:bodyPr anchor="t" rtlCol="false" tIns="0" lIns="0" bIns="0" rIns="0">
            <a:spAutoFit/>
          </a:bodyPr>
          <a:lstStyle/>
          <a:p>
            <a:pPr algn="l">
              <a:lnSpc>
                <a:spcPts val="2185"/>
              </a:lnSpc>
            </a:pPr>
            <a:r>
              <a:rPr lang="en-US" sz="1751" b="true">
                <a:solidFill>
                  <a:srgbClr val="E0E4E6"/>
                </a:solidFill>
                <a:latin typeface="Arimo Bold"/>
                <a:ea typeface="Arimo Bold"/>
                <a:cs typeface="Arimo Bold"/>
                <a:sym typeface="Arimo Bold"/>
              </a:rPr>
              <a:t>Circuit Assembled</a:t>
            </a:r>
          </a:p>
        </p:txBody>
      </p:sp>
      <p:sp>
        <p:nvSpPr>
          <p:cNvPr name="TextBox 24" id="24"/>
          <p:cNvSpPr txBox="true"/>
          <p:nvPr/>
        </p:nvSpPr>
        <p:spPr>
          <a:xfrm rot="0">
            <a:off x="9430331" y="3846205"/>
            <a:ext cx="7557402" cy="254028"/>
          </a:xfrm>
          <a:prstGeom prst="rect">
            <a:avLst/>
          </a:prstGeom>
        </p:spPr>
        <p:txBody>
          <a:bodyPr anchor="t" rtlCol="false" tIns="0" lIns="0" bIns="0" rIns="0">
            <a:spAutoFit/>
          </a:bodyPr>
          <a:lstStyle/>
          <a:p>
            <a:pPr algn="l">
              <a:lnSpc>
                <a:spcPts val="2171"/>
              </a:lnSpc>
            </a:pPr>
            <a:r>
              <a:rPr lang="en-US" sz="1601">
                <a:solidFill>
                  <a:srgbClr val="E0E4E6"/>
                </a:solidFill>
                <a:latin typeface="Barlow"/>
                <a:ea typeface="Barlow"/>
                <a:cs typeface="Barlow"/>
                <a:sym typeface="Barlow"/>
              </a:rPr>
              <a:t>All electronic components integrated and wiring verified for stable operation.</a:t>
            </a:r>
          </a:p>
        </p:txBody>
      </p:sp>
      <p:grpSp>
        <p:nvGrpSpPr>
          <p:cNvPr name="Group 25" id="25"/>
          <p:cNvGrpSpPr/>
          <p:nvPr/>
        </p:nvGrpSpPr>
        <p:grpSpPr>
          <a:xfrm rot="0">
            <a:off x="1092632" y="4464910"/>
            <a:ext cx="8000352" cy="1767526"/>
            <a:chOff x="0" y="0"/>
            <a:chExt cx="10667136" cy="2356701"/>
          </a:xfrm>
        </p:grpSpPr>
        <p:sp>
          <p:nvSpPr>
            <p:cNvPr name="Freeform 26" id="26"/>
            <p:cNvSpPr/>
            <p:nvPr/>
          </p:nvSpPr>
          <p:spPr>
            <a:xfrm flipH="false" flipV="false" rot="0">
              <a:off x="0" y="0"/>
              <a:ext cx="10667111" cy="2356739"/>
            </a:xfrm>
            <a:custGeom>
              <a:avLst/>
              <a:gdLst/>
              <a:ahLst/>
              <a:cxnLst/>
              <a:rect r="r" b="b" t="t" l="l"/>
              <a:pathLst>
                <a:path h="2356739" w="10667111">
                  <a:moveTo>
                    <a:pt x="0" y="390017"/>
                  </a:moveTo>
                  <a:cubicBezTo>
                    <a:pt x="0" y="174625"/>
                    <a:pt x="174625" y="0"/>
                    <a:pt x="390017" y="0"/>
                  </a:cubicBezTo>
                  <a:lnTo>
                    <a:pt x="10277094" y="0"/>
                  </a:lnTo>
                  <a:cubicBezTo>
                    <a:pt x="10492486" y="0"/>
                    <a:pt x="10667111" y="174625"/>
                    <a:pt x="10667111" y="390017"/>
                  </a:cubicBezTo>
                  <a:lnTo>
                    <a:pt x="10667111" y="1966722"/>
                  </a:lnTo>
                  <a:cubicBezTo>
                    <a:pt x="10667111" y="2182114"/>
                    <a:pt x="10492486" y="2356739"/>
                    <a:pt x="10277094" y="2356739"/>
                  </a:cubicBezTo>
                  <a:lnTo>
                    <a:pt x="390017" y="2356739"/>
                  </a:lnTo>
                  <a:cubicBezTo>
                    <a:pt x="174625" y="2356739"/>
                    <a:pt x="0" y="2182114"/>
                    <a:pt x="0" y="1966722"/>
                  </a:cubicBezTo>
                  <a:close/>
                </a:path>
              </a:pathLst>
            </a:custGeom>
            <a:solidFill>
              <a:srgbClr val="0A081B"/>
            </a:solidFill>
            <a:ln w="19065" cap="sq">
              <a:solidFill>
                <a:srgbClr val="37A7E7"/>
              </a:solidFill>
              <a:prstDash val="solid"/>
              <a:miter/>
            </a:ln>
          </p:spPr>
        </p:sp>
      </p:grpSp>
      <p:grpSp>
        <p:nvGrpSpPr>
          <p:cNvPr name="Group 27" id="27"/>
          <p:cNvGrpSpPr/>
          <p:nvPr/>
        </p:nvGrpSpPr>
        <p:grpSpPr>
          <a:xfrm rot="0">
            <a:off x="1314107" y="4686386"/>
            <a:ext cx="578634" cy="578653"/>
            <a:chOff x="0" y="0"/>
            <a:chExt cx="771512" cy="771538"/>
          </a:xfrm>
        </p:grpSpPr>
        <p:sp>
          <p:nvSpPr>
            <p:cNvPr name="Freeform 28" id="28"/>
            <p:cNvSpPr/>
            <p:nvPr/>
          </p:nvSpPr>
          <p:spPr>
            <a:xfrm flipH="false" flipV="false" rot="0">
              <a:off x="0" y="0"/>
              <a:ext cx="771525" cy="771398"/>
            </a:xfrm>
            <a:custGeom>
              <a:avLst/>
              <a:gdLst/>
              <a:ahLst/>
              <a:cxnLst/>
              <a:rect r="r" b="b" t="t" l="l"/>
              <a:pathLst>
                <a:path h="771398" w="771525">
                  <a:moveTo>
                    <a:pt x="0" y="385699"/>
                  </a:moveTo>
                  <a:cubicBezTo>
                    <a:pt x="0" y="172720"/>
                    <a:pt x="172720" y="0"/>
                    <a:pt x="385699" y="0"/>
                  </a:cubicBezTo>
                  <a:cubicBezTo>
                    <a:pt x="598678" y="0"/>
                    <a:pt x="771525" y="172720"/>
                    <a:pt x="771525" y="385699"/>
                  </a:cubicBezTo>
                  <a:cubicBezTo>
                    <a:pt x="771525" y="598805"/>
                    <a:pt x="598805" y="771398"/>
                    <a:pt x="385826" y="771398"/>
                  </a:cubicBezTo>
                  <a:cubicBezTo>
                    <a:pt x="172847" y="771398"/>
                    <a:pt x="0" y="598805"/>
                    <a:pt x="0" y="385826"/>
                  </a:cubicBezTo>
                  <a:close/>
                </a:path>
              </a:pathLst>
            </a:custGeom>
            <a:solidFill>
              <a:srgbClr val="37A7E7"/>
            </a:solidFill>
          </p:spPr>
        </p:sp>
      </p:grpSp>
      <p:sp>
        <p:nvSpPr>
          <p:cNvPr name="Freeform 29" id="29" descr="preencoded.png"/>
          <p:cNvSpPr/>
          <p:nvPr/>
        </p:nvSpPr>
        <p:spPr>
          <a:xfrm flipH="false" flipV="false" rot="0">
            <a:off x="1473175" y="4845463"/>
            <a:ext cx="260347" cy="260356"/>
          </a:xfrm>
          <a:custGeom>
            <a:avLst/>
            <a:gdLst/>
            <a:ahLst/>
            <a:cxnLst/>
            <a:rect r="r" b="b" t="t" l="l"/>
            <a:pathLst>
              <a:path h="260356" w="260347">
                <a:moveTo>
                  <a:pt x="0" y="0"/>
                </a:moveTo>
                <a:lnTo>
                  <a:pt x="260346" y="0"/>
                </a:lnTo>
                <a:lnTo>
                  <a:pt x="260346" y="260356"/>
                </a:lnTo>
                <a:lnTo>
                  <a:pt x="0" y="260356"/>
                </a:lnTo>
                <a:lnTo>
                  <a:pt x="0" y="0"/>
                </a:lnTo>
                <a:close/>
              </a:path>
            </a:pathLst>
          </a:custGeom>
          <a:blipFill>
            <a:blip r:embed="rId9">
              <a:extLst>
                <a:ext uri="{96DAC541-7B7A-43D3-8B79-37D633B846F1}">
                  <asvg:svgBlip xmlns:asvg="http://schemas.microsoft.com/office/drawing/2016/SVG/main" r:embed="rId10"/>
                </a:ext>
              </a:extLst>
            </a:blip>
            <a:stretch>
              <a:fillRect l="-1" t="0" r="-2" b="0"/>
            </a:stretch>
          </a:blipFill>
        </p:spPr>
      </p:sp>
      <p:sp>
        <p:nvSpPr>
          <p:cNvPr name="TextBox 30" id="30"/>
          <p:cNvSpPr txBox="true"/>
          <p:nvPr/>
        </p:nvSpPr>
        <p:spPr>
          <a:xfrm rot="0">
            <a:off x="1314107" y="5371405"/>
            <a:ext cx="2063591" cy="294124"/>
          </a:xfrm>
          <a:prstGeom prst="rect">
            <a:avLst/>
          </a:prstGeom>
        </p:spPr>
        <p:txBody>
          <a:bodyPr anchor="t" rtlCol="false" tIns="0" lIns="0" bIns="0" rIns="0">
            <a:spAutoFit/>
          </a:bodyPr>
          <a:lstStyle/>
          <a:p>
            <a:pPr algn="l">
              <a:lnSpc>
                <a:spcPts val="2185"/>
              </a:lnSpc>
            </a:pPr>
            <a:r>
              <a:rPr lang="en-US" sz="1751" b="true">
                <a:solidFill>
                  <a:srgbClr val="E0E4E6"/>
                </a:solidFill>
                <a:latin typeface="Arimo Bold"/>
                <a:ea typeface="Arimo Bold"/>
                <a:cs typeface="Arimo Bold"/>
                <a:sym typeface="Arimo Bold"/>
              </a:rPr>
              <a:t>Firmware Complete</a:t>
            </a:r>
          </a:p>
        </p:txBody>
      </p:sp>
      <p:sp>
        <p:nvSpPr>
          <p:cNvPr name="TextBox 31" id="31"/>
          <p:cNvSpPr txBox="true"/>
          <p:nvPr/>
        </p:nvSpPr>
        <p:spPr>
          <a:xfrm rot="0">
            <a:off x="1314107" y="5729611"/>
            <a:ext cx="7557402" cy="254028"/>
          </a:xfrm>
          <a:prstGeom prst="rect">
            <a:avLst/>
          </a:prstGeom>
        </p:spPr>
        <p:txBody>
          <a:bodyPr anchor="t" rtlCol="false" tIns="0" lIns="0" bIns="0" rIns="0">
            <a:spAutoFit/>
          </a:bodyPr>
          <a:lstStyle/>
          <a:p>
            <a:pPr algn="l">
              <a:lnSpc>
                <a:spcPts val="2171"/>
              </a:lnSpc>
            </a:pPr>
            <a:r>
              <a:rPr lang="en-US" sz="1601">
                <a:solidFill>
                  <a:srgbClr val="E0E4E6"/>
                </a:solidFill>
                <a:latin typeface="Barlow"/>
                <a:ea typeface="Barlow"/>
                <a:cs typeface="Barlow"/>
                <a:sym typeface="Barlow"/>
              </a:rPr>
              <a:t>Embedded software developed, tested, and deployed on the Arduino Uno.</a:t>
            </a:r>
          </a:p>
        </p:txBody>
      </p:sp>
      <p:grpSp>
        <p:nvGrpSpPr>
          <p:cNvPr name="Group 32" id="32"/>
          <p:cNvGrpSpPr/>
          <p:nvPr/>
        </p:nvGrpSpPr>
        <p:grpSpPr>
          <a:xfrm rot="0">
            <a:off x="9208856" y="4464910"/>
            <a:ext cx="8000352" cy="1767526"/>
            <a:chOff x="0" y="0"/>
            <a:chExt cx="10667136" cy="2356701"/>
          </a:xfrm>
        </p:grpSpPr>
        <p:sp>
          <p:nvSpPr>
            <p:cNvPr name="Freeform 33" id="33"/>
            <p:cNvSpPr/>
            <p:nvPr/>
          </p:nvSpPr>
          <p:spPr>
            <a:xfrm flipH="false" flipV="false" rot="0">
              <a:off x="0" y="0"/>
              <a:ext cx="10667111" cy="2356739"/>
            </a:xfrm>
            <a:custGeom>
              <a:avLst/>
              <a:gdLst/>
              <a:ahLst/>
              <a:cxnLst/>
              <a:rect r="r" b="b" t="t" l="l"/>
              <a:pathLst>
                <a:path h="2356739" w="10667111">
                  <a:moveTo>
                    <a:pt x="0" y="390017"/>
                  </a:moveTo>
                  <a:cubicBezTo>
                    <a:pt x="0" y="174625"/>
                    <a:pt x="174625" y="0"/>
                    <a:pt x="390017" y="0"/>
                  </a:cubicBezTo>
                  <a:lnTo>
                    <a:pt x="10277094" y="0"/>
                  </a:lnTo>
                  <a:cubicBezTo>
                    <a:pt x="10492486" y="0"/>
                    <a:pt x="10667111" y="174625"/>
                    <a:pt x="10667111" y="390017"/>
                  </a:cubicBezTo>
                  <a:lnTo>
                    <a:pt x="10667111" y="1966722"/>
                  </a:lnTo>
                  <a:cubicBezTo>
                    <a:pt x="10667111" y="2182114"/>
                    <a:pt x="10492486" y="2356739"/>
                    <a:pt x="10277094" y="2356739"/>
                  </a:cubicBezTo>
                  <a:lnTo>
                    <a:pt x="390017" y="2356739"/>
                  </a:lnTo>
                  <a:cubicBezTo>
                    <a:pt x="174625" y="2356739"/>
                    <a:pt x="0" y="2182114"/>
                    <a:pt x="0" y="1966722"/>
                  </a:cubicBezTo>
                  <a:close/>
                </a:path>
              </a:pathLst>
            </a:custGeom>
            <a:solidFill>
              <a:srgbClr val="0A081B"/>
            </a:solidFill>
            <a:ln w="19065" cap="sq">
              <a:solidFill>
                <a:srgbClr val="091231"/>
              </a:solidFill>
              <a:prstDash val="solid"/>
              <a:miter/>
            </a:ln>
          </p:spPr>
        </p:sp>
      </p:grpSp>
      <p:grpSp>
        <p:nvGrpSpPr>
          <p:cNvPr name="Group 34" id="34"/>
          <p:cNvGrpSpPr/>
          <p:nvPr/>
        </p:nvGrpSpPr>
        <p:grpSpPr>
          <a:xfrm rot="0">
            <a:off x="9430331" y="4686386"/>
            <a:ext cx="578634" cy="578653"/>
            <a:chOff x="0" y="0"/>
            <a:chExt cx="771512" cy="771538"/>
          </a:xfrm>
        </p:grpSpPr>
        <p:sp>
          <p:nvSpPr>
            <p:cNvPr name="Freeform 35" id="35"/>
            <p:cNvSpPr/>
            <p:nvPr/>
          </p:nvSpPr>
          <p:spPr>
            <a:xfrm flipH="false" flipV="false" rot="0">
              <a:off x="0" y="0"/>
              <a:ext cx="771525" cy="771398"/>
            </a:xfrm>
            <a:custGeom>
              <a:avLst/>
              <a:gdLst/>
              <a:ahLst/>
              <a:cxnLst/>
              <a:rect r="r" b="b" t="t" l="l"/>
              <a:pathLst>
                <a:path h="771398" w="771525">
                  <a:moveTo>
                    <a:pt x="0" y="385699"/>
                  </a:moveTo>
                  <a:cubicBezTo>
                    <a:pt x="0" y="172720"/>
                    <a:pt x="172720" y="0"/>
                    <a:pt x="385699" y="0"/>
                  </a:cubicBezTo>
                  <a:cubicBezTo>
                    <a:pt x="598678" y="0"/>
                    <a:pt x="771525" y="172720"/>
                    <a:pt x="771525" y="385699"/>
                  </a:cubicBezTo>
                  <a:cubicBezTo>
                    <a:pt x="771525" y="598805"/>
                    <a:pt x="598805" y="771398"/>
                    <a:pt x="385826" y="771398"/>
                  </a:cubicBezTo>
                  <a:cubicBezTo>
                    <a:pt x="172847" y="771398"/>
                    <a:pt x="0" y="598805"/>
                    <a:pt x="0" y="385826"/>
                  </a:cubicBezTo>
                  <a:close/>
                </a:path>
              </a:pathLst>
            </a:custGeom>
            <a:solidFill>
              <a:srgbClr val="091231"/>
            </a:solidFill>
          </p:spPr>
        </p:sp>
      </p:grpSp>
      <p:sp>
        <p:nvSpPr>
          <p:cNvPr name="Freeform 36" id="36" descr="preencoded.png"/>
          <p:cNvSpPr/>
          <p:nvPr/>
        </p:nvSpPr>
        <p:spPr>
          <a:xfrm flipH="false" flipV="false" rot="0">
            <a:off x="9589399" y="4845463"/>
            <a:ext cx="260347" cy="260356"/>
          </a:xfrm>
          <a:custGeom>
            <a:avLst/>
            <a:gdLst/>
            <a:ahLst/>
            <a:cxnLst/>
            <a:rect r="r" b="b" t="t" l="l"/>
            <a:pathLst>
              <a:path h="260356" w="260347">
                <a:moveTo>
                  <a:pt x="0" y="0"/>
                </a:moveTo>
                <a:lnTo>
                  <a:pt x="260346" y="0"/>
                </a:lnTo>
                <a:lnTo>
                  <a:pt x="260346" y="260356"/>
                </a:lnTo>
                <a:lnTo>
                  <a:pt x="0" y="260356"/>
                </a:lnTo>
                <a:lnTo>
                  <a:pt x="0" y="0"/>
                </a:lnTo>
                <a:close/>
              </a:path>
            </a:pathLst>
          </a:custGeom>
          <a:blipFill>
            <a:blip r:embed="rId11">
              <a:extLst>
                <a:ext uri="{96DAC541-7B7A-43D3-8B79-37D633B846F1}">
                  <asvg:svgBlip xmlns:asvg="http://schemas.microsoft.com/office/drawing/2016/SVG/main" r:embed="rId12"/>
                </a:ext>
              </a:extLst>
            </a:blip>
            <a:stretch>
              <a:fillRect l="-8930" t="0" r="-8930" b="0"/>
            </a:stretch>
          </a:blipFill>
        </p:spPr>
      </p:sp>
      <p:sp>
        <p:nvSpPr>
          <p:cNvPr name="TextBox 37" id="37"/>
          <p:cNvSpPr txBox="true"/>
          <p:nvPr/>
        </p:nvSpPr>
        <p:spPr>
          <a:xfrm rot="0">
            <a:off x="9430331" y="5371405"/>
            <a:ext cx="1593652" cy="294124"/>
          </a:xfrm>
          <a:prstGeom prst="rect">
            <a:avLst/>
          </a:prstGeom>
        </p:spPr>
        <p:txBody>
          <a:bodyPr anchor="t" rtlCol="false" tIns="0" lIns="0" bIns="0" rIns="0">
            <a:spAutoFit/>
          </a:bodyPr>
          <a:lstStyle/>
          <a:p>
            <a:pPr algn="l">
              <a:lnSpc>
                <a:spcPts val="2185"/>
              </a:lnSpc>
            </a:pPr>
            <a:r>
              <a:rPr lang="en-US" sz="1751" b="true">
                <a:solidFill>
                  <a:srgbClr val="E0E4E6"/>
                </a:solidFill>
                <a:latin typeface="Arimo Bold"/>
                <a:ea typeface="Arimo Bold"/>
                <a:cs typeface="Arimo Bold"/>
                <a:sym typeface="Arimo Bold"/>
              </a:rPr>
              <a:t>LCD Integrated</a:t>
            </a:r>
          </a:p>
        </p:txBody>
      </p:sp>
      <p:sp>
        <p:nvSpPr>
          <p:cNvPr name="TextBox 38" id="38"/>
          <p:cNvSpPr txBox="true"/>
          <p:nvPr/>
        </p:nvSpPr>
        <p:spPr>
          <a:xfrm rot="0">
            <a:off x="9430331" y="5729611"/>
            <a:ext cx="7557402" cy="254028"/>
          </a:xfrm>
          <a:prstGeom prst="rect">
            <a:avLst/>
          </a:prstGeom>
        </p:spPr>
        <p:txBody>
          <a:bodyPr anchor="t" rtlCol="false" tIns="0" lIns="0" bIns="0" rIns="0">
            <a:spAutoFit/>
          </a:bodyPr>
          <a:lstStyle/>
          <a:p>
            <a:pPr algn="l">
              <a:lnSpc>
                <a:spcPts val="2171"/>
              </a:lnSpc>
            </a:pPr>
            <a:r>
              <a:rPr lang="en-US" sz="1601">
                <a:solidFill>
                  <a:srgbClr val="E0E4E6"/>
                </a:solidFill>
                <a:latin typeface="Barlow"/>
                <a:ea typeface="Barlow"/>
                <a:cs typeface="Barlow"/>
                <a:sym typeface="Barlow"/>
              </a:rPr>
              <a:t>Display module successfully connected and showing real-time system status.</a:t>
            </a:r>
          </a:p>
        </p:txBody>
      </p:sp>
      <p:grpSp>
        <p:nvGrpSpPr>
          <p:cNvPr name="Group 39" id="39"/>
          <p:cNvGrpSpPr/>
          <p:nvPr/>
        </p:nvGrpSpPr>
        <p:grpSpPr>
          <a:xfrm rot="0">
            <a:off x="1092632" y="6348317"/>
            <a:ext cx="8000352" cy="1767526"/>
            <a:chOff x="0" y="0"/>
            <a:chExt cx="10667136" cy="2356701"/>
          </a:xfrm>
        </p:grpSpPr>
        <p:sp>
          <p:nvSpPr>
            <p:cNvPr name="Freeform 40" id="40"/>
            <p:cNvSpPr/>
            <p:nvPr/>
          </p:nvSpPr>
          <p:spPr>
            <a:xfrm flipH="false" flipV="false" rot="0">
              <a:off x="0" y="0"/>
              <a:ext cx="10667111" cy="2356739"/>
            </a:xfrm>
            <a:custGeom>
              <a:avLst/>
              <a:gdLst/>
              <a:ahLst/>
              <a:cxnLst/>
              <a:rect r="r" b="b" t="t" l="l"/>
              <a:pathLst>
                <a:path h="2356739" w="10667111">
                  <a:moveTo>
                    <a:pt x="0" y="390017"/>
                  </a:moveTo>
                  <a:cubicBezTo>
                    <a:pt x="0" y="174625"/>
                    <a:pt x="174625" y="0"/>
                    <a:pt x="390017" y="0"/>
                  </a:cubicBezTo>
                  <a:lnTo>
                    <a:pt x="10277094" y="0"/>
                  </a:lnTo>
                  <a:cubicBezTo>
                    <a:pt x="10492486" y="0"/>
                    <a:pt x="10667111" y="174625"/>
                    <a:pt x="10667111" y="390017"/>
                  </a:cubicBezTo>
                  <a:lnTo>
                    <a:pt x="10667111" y="1966722"/>
                  </a:lnTo>
                  <a:cubicBezTo>
                    <a:pt x="10667111" y="2182114"/>
                    <a:pt x="10492486" y="2356739"/>
                    <a:pt x="10277094" y="2356739"/>
                  </a:cubicBezTo>
                  <a:lnTo>
                    <a:pt x="390017" y="2356739"/>
                  </a:lnTo>
                  <a:cubicBezTo>
                    <a:pt x="174625" y="2356739"/>
                    <a:pt x="0" y="2182114"/>
                    <a:pt x="0" y="1966722"/>
                  </a:cubicBezTo>
                  <a:close/>
                </a:path>
              </a:pathLst>
            </a:custGeom>
            <a:solidFill>
              <a:srgbClr val="0A081B"/>
            </a:solidFill>
            <a:ln w="19065" cap="sq">
              <a:solidFill>
                <a:srgbClr val="16FFBB"/>
              </a:solidFill>
              <a:prstDash val="solid"/>
              <a:miter/>
            </a:ln>
          </p:spPr>
        </p:sp>
      </p:grpSp>
      <p:grpSp>
        <p:nvGrpSpPr>
          <p:cNvPr name="Group 41" id="41"/>
          <p:cNvGrpSpPr/>
          <p:nvPr/>
        </p:nvGrpSpPr>
        <p:grpSpPr>
          <a:xfrm rot="0">
            <a:off x="1314107" y="6569793"/>
            <a:ext cx="578634" cy="578653"/>
            <a:chOff x="0" y="0"/>
            <a:chExt cx="771512" cy="771538"/>
          </a:xfrm>
        </p:grpSpPr>
        <p:sp>
          <p:nvSpPr>
            <p:cNvPr name="Freeform 42" id="42"/>
            <p:cNvSpPr/>
            <p:nvPr/>
          </p:nvSpPr>
          <p:spPr>
            <a:xfrm flipH="false" flipV="false" rot="0">
              <a:off x="0" y="0"/>
              <a:ext cx="771525" cy="771398"/>
            </a:xfrm>
            <a:custGeom>
              <a:avLst/>
              <a:gdLst/>
              <a:ahLst/>
              <a:cxnLst/>
              <a:rect r="r" b="b" t="t" l="l"/>
              <a:pathLst>
                <a:path h="771398" w="771525">
                  <a:moveTo>
                    <a:pt x="0" y="385699"/>
                  </a:moveTo>
                  <a:cubicBezTo>
                    <a:pt x="0" y="172720"/>
                    <a:pt x="172720" y="0"/>
                    <a:pt x="385699" y="0"/>
                  </a:cubicBezTo>
                  <a:cubicBezTo>
                    <a:pt x="598678" y="0"/>
                    <a:pt x="771525" y="172720"/>
                    <a:pt x="771525" y="385699"/>
                  </a:cubicBezTo>
                  <a:cubicBezTo>
                    <a:pt x="771525" y="598805"/>
                    <a:pt x="598805" y="771398"/>
                    <a:pt x="385826" y="771398"/>
                  </a:cubicBezTo>
                  <a:cubicBezTo>
                    <a:pt x="172847" y="771398"/>
                    <a:pt x="0" y="598805"/>
                    <a:pt x="0" y="385826"/>
                  </a:cubicBezTo>
                  <a:close/>
                </a:path>
              </a:pathLst>
            </a:custGeom>
            <a:solidFill>
              <a:srgbClr val="16FFBB"/>
            </a:solidFill>
          </p:spPr>
        </p:sp>
      </p:grpSp>
      <p:sp>
        <p:nvSpPr>
          <p:cNvPr name="Freeform 43" id="43" descr="preencoded.png"/>
          <p:cNvSpPr/>
          <p:nvPr/>
        </p:nvSpPr>
        <p:spPr>
          <a:xfrm flipH="false" flipV="false" rot="0">
            <a:off x="1473175" y="6728860"/>
            <a:ext cx="260347" cy="260356"/>
          </a:xfrm>
          <a:custGeom>
            <a:avLst/>
            <a:gdLst/>
            <a:ahLst/>
            <a:cxnLst/>
            <a:rect r="r" b="b" t="t" l="l"/>
            <a:pathLst>
              <a:path h="260356" w="260347">
                <a:moveTo>
                  <a:pt x="0" y="0"/>
                </a:moveTo>
                <a:lnTo>
                  <a:pt x="260346" y="0"/>
                </a:lnTo>
                <a:lnTo>
                  <a:pt x="260346" y="260356"/>
                </a:lnTo>
                <a:lnTo>
                  <a:pt x="0" y="260356"/>
                </a:lnTo>
                <a:lnTo>
                  <a:pt x="0" y="0"/>
                </a:lnTo>
                <a:close/>
              </a:path>
            </a:pathLst>
          </a:custGeom>
          <a:blipFill>
            <a:blip r:embed="rId13">
              <a:extLst>
                <a:ext uri="{96DAC541-7B7A-43D3-8B79-37D633B846F1}">
                  <asvg:svgBlip xmlns:asvg="http://schemas.microsoft.com/office/drawing/2016/SVG/main" r:embed="rId14"/>
                </a:ext>
              </a:extLst>
            </a:blip>
            <a:stretch>
              <a:fillRect l="-1" t="0" r="-2" b="0"/>
            </a:stretch>
          </a:blipFill>
        </p:spPr>
      </p:sp>
      <p:sp>
        <p:nvSpPr>
          <p:cNvPr name="TextBox 44" id="44"/>
          <p:cNvSpPr txBox="true"/>
          <p:nvPr/>
        </p:nvSpPr>
        <p:spPr>
          <a:xfrm rot="0">
            <a:off x="1314107" y="7254811"/>
            <a:ext cx="1668304" cy="294124"/>
          </a:xfrm>
          <a:prstGeom prst="rect">
            <a:avLst/>
          </a:prstGeom>
        </p:spPr>
        <p:txBody>
          <a:bodyPr anchor="t" rtlCol="false" tIns="0" lIns="0" bIns="0" rIns="0">
            <a:spAutoFit/>
          </a:bodyPr>
          <a:lstStyle/>
          <a:p>
            <a:pPr algn="l">
              <a:lnSpc>
                <a:spcPts val="2185"/>
              </a:lnSpc>
            </a:pPr>
            <a:r>
              <a:rPr lang="en-US" sz="1751" b="true">
                <a:solidFill>
                  <a:srgbClr val="E0E4E6"/>
                </a:solidFill>
                <a:latin typeface="Arimo Bold"/>
                <a:ea typeface="Arimo Bold"/>
                <a:cs typeface="Arimo Bold"/>
                <a:sym typeface="Arimo Bold"/>
              </a:rPr>
              <a:t>Servo Validated</a:t>
            </a:r>
          </a:p>
        </p:txBody>
      </p:sp>
      <p:sp>
        <p:nvSpPr>
          <p:cNvPr name="TextBox 45" id="45"/>
          <p:cNvSpPr txBox="true"/>
          <p:nvPr/>
        </p:nvSpPr>
        <p:spPr>
          <a:xfrm rot="0">
            <a:off x="1314107" y="7613018"/>
            <a:ext cx="7557402" cy="254028"/>
          </a:xfrm>
          <a:prstGeom prst="rect">
            <a:avLst/>
          </a:prstGeom>
        </p:spPr>
        <p:txBody>
          <a:bodyPr anchor="t" rtlCol="false" tIns="0" lIns="0" bIns="0" rIns="0">
            <a:spAutoFit/>
          </a:bodyPr>
          <a:lstStyle/>
          <a:p>
            <a:pPr algn="l">
              <a:lnSpc>
                <a:spcPts val="2171"/>
              </a:lnSpc>
            </a:pPr>
            <a:r>
              <a:rPr lang="en-US" sz="1601">
                <a:solidFill>
                  <a:srgbClr val="E0E4E6"/>
                </a:solidFill>
                <a:latin typeface="Barlow"/>
                <a:ea typeface="Barlow"/>
                <a:cs typeface="Barlow"/>
                <a:sym typeface="Barlow"/>
              </a:rPr>
              <a:t>Servo motor control tested and confirmed for precise dispensing actuation.</a:t>
            </a:r>
          </a:p>
        </p:txBody>
      </p:sp>
      <p:grpSp>
        <p:nvGrpSpPr>
          <p:cNvPr name="Group 46" id="46"/>
          <p:cNvGrpSpPr/>
          <p:nvPr/>
        </p:nvGrpSpPr>
        <p:grpSpPr>
          <a:xfrm rot="0">
            <a:off x="9208856" y="6348317"/>
            <a:ext cx="8000352" cy="1767526"/>
            <a:chOff x="0" y="0"/>
            <a:chExt cx="10667136" cy="2356701"/>
          </a:xfrm>
        </p:grpSpPr>
        <p:sp>
          <p:nvSpPr>
            <p:cNvPr name="Freeform 47" id="47"/>
            <p:cNvSpPr/>
            <p:nvPr/>
          </p:nvSpPr>
          <p:spPr>
            <a:xfrm flipH="false" flipV="false" rot="0">
              <a:off x="0" y="0"/>
              <a:ext cx="10667111" cy="2356739"/>
            </a:xfrm>
            <a:custGeom>
              <a:avLst/>
              <a:gdLst/>
              <a:ahLst/>
              <a:cxnLst/>
              <a:rect r="r" b="b" t="t" l="l"/>
              <a:pathLst>
                <a:path h="2356739" w="10667111">
                  <a:moveTo>
                    <a:pt x="0" y="390017"/>
                  </a:moveTo>
                  <a:cubicBezTo>
                    <a:pt x="0" y="174625"/>
                    <a:pt x="174625" y="0"/>
                    <a:pt x="390017" y="0"/>
                  </a:cubicBezTo>
                  <a:lnTo>
                    <a:pt x="10277094" y="0"/>
                  </a:lnTo>
                  <a:cubicBezTo>
                    <a:pt x="10492486" y="0"/>
                    <a:pt x="10667111" y="174625"/>
                    <a:pt x="10667111" y="390017"/>
                  </a:cubicBezTo>
                  <a:lnTo>
                    <a:pt x="10667111" y="1966722"/>
                  </a:lnTo>
                  <a:cubicBezTo>
                    <a:pt x="10667111" y="2182114"/>
                    <a:pt x="10492486" y="2356739"/>
                    <a:pt x="10277094" y="2356739"/>
                  </a:cubicBezTo>
                  <a:lnTo>
                    <a:pt x="390017" y="2356739"/>
                  </a:lnTo>
                  <a:cubicBezTo>
                    <a:pt x="174625" y="2356739"/>
                    <a:pt x="0" y="2182114"/>
                    <a:pt x="0" y="1966722"/>
                  </a:cubicBezTo>
                  <a:close/>
                </a:path>
              </a:pathLst>
            </a:custGeom>
            <a:solidFill>
              <a:srgbClr val="0A081B"/>
            </a:solidFill>
            <a:ln w="19065" cap="sq">
              <a:solidFill>
                <a:srgbClr val="29DDDA"/>
              </a:solidFill>
              <a:prstDash val="solid"/>
              <a:miter/>
            </a:ln>
          </p:spPr>
        </p:sp>
      </p:grpSp>
      <p:grpSp>
        <p:nvGrpSpPr>
          <p:cNvPr name="Group 48" id="48"/>
          <p:cNvGrpSpPr/>
          <p:nvPr/>
        </p:nvGrpSpPr>
        <p:grpSpPr>
          <a:xfrm rot="0">
            <a:off x="9430331" y="6569793"/>
            <a:ext cx="578634" cy="578653"/>
            <a:chOff x="0" y="0"/>
            <a:chExt cx="771512" cy="771538"/>
          </a:xfrm>
        </p:grpSpPr>
        <p:sp>
          <p:nvSpPr>
            <p:cNvPr name="Freeform 49" id="49"/>
            <p:cNvSpPr/>
            <p:nvPr/>
          </p:nvSpPr>
          <p:spPr>
            <a:xfrm flipH="false" flipV="false" rot="0">
              <a:off x="0" y="0"/>
              <a:ext cx="771525" cy="771398"/>
            </a:xfrm>
            <a:custGeom>
              <a:avLst/>
              <a:gdLst/>
              <a:ahLst/>
              <a:cxnLst/>
              <a:rect r="r" b="b" t="t" l="l"/>
              <a:pathLst>
                <a:path h="771398" w="771525">
                  <a:moveTo>
                    <a:pt x="0" y="385699"/>
                  </a:moveTo>
                  <a:cubicBezTo>
                    <a:pt x="0" y="172720"/>
                    <a:pt x="172720" y="0"/>
                    <a:pt x="385699" y="0"/>
                  </a:cubicBezTo>
                  <a:cubicBezTo>
                    <a:pt x="598678" y="0"/>
                    <a:pt x="771525" y="172720"/>
                    <a:pt x="771525" y="385699"/>
                  </a:cubicBezTo>
                  <a:cubicBezTo>
                    <a:pt x="771525" y="598805"/>
                    <a:pt x="598805" y="771398"/>
                    <a:pt x="385826" y="771398"/>
                  </a:cubicBezTo>
                  <a:cubicBezTo>
                    <a:pt x="172847" y="771398"/>
                    <a:pt x="0" y="598805"/>
                    <a:pt x="0" y="385826"/>
                  </a:cubicBezTo>
                  <a:close/>
                </a:path>
              </a:pathLst>
            </a:custGeom>
            <a:solidFill>
              <a:srgbClr val="29DDDA"/>
            </a:solidFill>
          </p:spPr>
        </p:sp>
      </p:grpSp>
      <p:sp>
        <p:nvSpPr>
          <p:cNvPr name="Freeform 50" id="50" descr="preencoded.png"/>
          <p:cNvSpPr/>
          <p:nvPr/>
        </p:nvSpPr>
        <p:spPr>
          <a:xfrm flipH="false" flipV="false" rot="0">
            <a:off x="9589399" y="6728860"/>
            <a:ext cx="260347" cy="260356"/>
          </a:xfrm>
          <a:custGeom>
            <a:avLst/>
            <a:gdLst/>
            <a:ahLst/>
            <a:cxnLst/>
            <a:rect r="r" b="b" t="t" l="l"/>
            <a:pathLst>
              <a:path h="260356" w="260347">
                <a:moveTo>
                  <a:pt x="0" y="0"/>
                </a:moveTo>
                <a:lnTo>
                  <a:pt x="260346" y="0"/>
                </a:lnTo>
                <a:lnTo>
                  <a:pt x="260346" y="260356"/>
                </a:lnTo>
                <a:lnTo>
                  <a:pt x="0" y="260356"/>
                </a:lnTo>
                <a:lnTo>
                  <a:pt x="0" y="0"/>
                </a:lnTo>
                <a:close/>
              </a:path>
            </a:pathLst>
          </a:custGeom>
          <a:blipFill>
            <a:blip r:embed="rId15">
              <a:extLst>
                <a:ext uri="{96DAC541-7B7A-43D3-8B79-37D633B846F1}">
                  <asvg:svgBlip xmlns:asvg="http://schemas.microsoft.com/office/drawing/2016/SVG/main" r:embed="rId16"/>
                </a:ext>
              </a:extLst>
            </a:blip>
            <a:stretch>
              <a:fillRect l="-1" t="0" r="-2" b="0"/>
            </a:stretch>
          </a:blipFill>
        </p:spPr>
      </p:sp>
      <p:sp>
        <p:nvSpPr>
          <p:cNvPr name="TextBox 51" id="51"/>
          <p:cNvSpPr txBox="true"/>
          <p:nvPr/>
        </p:nvSpPr>
        <p:spPr>
          <a:xfrm rot="0">
            <a:off x="9430331" y="7254811"/>
            <a:ext cx="1631275" cy="294124"/>
          </a:xfrm>
          <a:prstGeom prst="rect">
            <a:avLst/>
          </a:prstGeom>
        </p:spPr>
        <p:txBody>
          <a:bodyPr anchor="t" rtlCol="false" tIns="0" lIns="0" bIns="0" rIns="0">
            <a:spAutoFit/>
          </a:bodyPr>
          <a:lstStyle/>
          <a:p>
            <a:pPr algn="l">
              <a:lnSpc>
                <a:spcPts val="2185"/>
              </a:lnSpc>
            </a:pPr>
            <a:r>
              <a:rPr lang="en-US" sz="1751" b="true">
                <a:solidFill>
                  <a:srgbClr val="E0E4E6"/>
                </a:solidFill>
                <a:latin typeface="Arimo Bold"/>
                <a:ea typeface="Arimo Bold"/>
                <a:cs typeface="Arimo Bold"/>
                <a:sym typeface="Arimo Bold"/>
              </a:rPr>
              <a:t>Sensor Verified</a:t>
            </a:r>
          </a:p>
        </p:txBody>
      </p:sp>
      <p:sp>
        <p:nvSpPr>
          <p:cNvPr name="TextBox 52" id="52"/>
          <p:cNvSpPr txBox="true"/>
          <p:nvPr/>
        </p:nvSpPr>
        <p:spPr>
          <a:xfrm rot="0">
            <a:off x="9430331" y="7613018"/>
            <a:ext cx="7557402" cy="254028"/>
          </a:xfrm>
          <a:prstGeom prst="rect">
            <a:avLst/>
          </a:prstGeom>
        </p:spPr>
        <p:txBody>
          <a:bodyPr anchor="t" rtlCol="false" tIns="0" lIns="0" bIns="0" rIns="0">
            <a:spAutoFit/>
          </a:bodyPr>
          <a:lstStyle/>
          <a:p>
            <a:pPr algn="l">
              <a:lnSpc>
                <a:spcPts val="2171"/>
              </a:lnSpc>
            </a:pPr>
            <a:r>
              <a:rPr lang="en-US" sz="1601">
                <a:solidFill>
                  <a:srgbClr val="E0E4E6"/>
                </a:solidFill>
                <a:latin typeface="Barlow"/>
                <a:ea typeface="Barlow"/>
                <a:cs typeface="Barlow"/>
                <a:sym typeface="Barlow"/>
              </a:rPr>
              <a:t>Ultrasonic sensor performance verified with accurate hand detection range.</a:t>
            </a:r>
          </a:p>
        </p:txBody>
      </p:sp>
      <p:grpSp>
        <p:nvGrpSpPr>
          <p:cNvPr name="Group 53" id="53"/>
          <p:cNvGrpSpPr/>
          <p:nvPr/>
        </p:nvGrpSpPr>
        <p:grpSpPr>
          <a:xfrm rot="0">
            <a:off x="1102157" y="8258080"/>
            <a:ext cx="16097517" cy="863584"/>
            <a:chOff x="0" y="0"/>
            <a:chExt cx="21463356" cy="1151446"/>
          </a:xfrm>
        </p:grpSpPr>
        <p:sp>
          <p:nvSpPr>
            <p:cNvPr name="Freeform 54" id="54"/>
            <p:cNvSpPr/>
            <p:nvPr/>
          </p:nvSpPr>
          <p:spPr>
            <a:xfrm flipH="false" flipV="false" rot="0">
              <a:off x="0" y="0"/>
              <a:ext cx="21463381" cy="1151509"/>
            </a:xfrm>
            <a:custGeom>
              <a:avLst/>
              <a:gdLst/>
              <a:ahLst/>
              <a:cxnLst/>
              <a:rect r="r" b="b" t="t" l="l"/>
              <a:pathLst>
                <a:path h="1151509" w="21463381">
                  <a:moveTo>
                    <a:pt x="0" y="385826"/>
                  </a:moveTo>
                  <a:cubicBezTo>
                    <a:pt x="0" y="172720"/>
                    <a:pt x="172720" y="0"/>
                    <a:pt x="385826" y="0"/>
                  </a:cubicBezTo>
                  <a:lnTo>
                    <a:pt x="21077555" y="0"/>
                  </a:lnTo>
                  <a:cubicBezTo>
                    <a:pt x="21290662" y="0"/>
                    <a:pt x="21463381" y="172720"/>
                    <a:pt x="21463381" y="385826"/>
                  </a:cubicBezTo>
                  <a:lnTo>
                    <a:pt x="21463381" y="765683"/>
                  </a:lnTo>
                  <a:cubicBezTo>
                    <a:pt x="21463381" y="978789"/>
                    <a:pt x="21290662" y="1151509"/>
                    <a:pt x="21077555" y="1151509"/>
                  </a:cubicBezTo>
                  <a:lnTo>
                    <a:pt x="385826" y="1151509"/>
                  </a:lnTo>
                  <a:cubicBezTo>
                    <a:pt x="172720" y="1151382"/>
                    <a:pt x="0" y="978662"/>
                    <a:pt x="0" y="765683"/>
                  </a:cubicBezTo>
                  <a:close/>
                </a:path>
              </a:pathLst>
            </a:custGeom>
            <a:solidFill>
              <a:srgbClr val="183A13"/>
            </a:solidFill>
          </p:spPr>
        </p:sp>
      </p:grpSp>
      <p:grpSp>
        <p:nvGrpSpPr>
          <p:cNvPr name="Group 55" id="55"/>
          <p:cNvGrpSpPr/>
          <p:nvPr/>
        </p:nvGrpSpPr>
        <p:grpSpPr>
          <a:xfrm rot="0">
            <a:off x="1295038" y="8511283"/>
            <a:ext cx="240983" cy="192881"/>
            <a:chOff x="0" y="0"/>
            <a:chExt cx="321310" cy="257175"/>
          </a:xfrm>
        </p:grpSpPr>
        <p:sp>
          <p:nvSpPr>
            <p:cNvPr name="Freeform 56" id="56" descr="preencoded.png"/>
            <p:cNvSpPr/>
            <p:nvPr/>
          </p:nvSpPr>
          <p:spPr>
            <a:xfrm flipH="false" flipV="false" rot="0">
              <a:off x="0" y="0"/>
              <a:ext cx="321310" cy="257175"/>
            </a:xfrm>
            <a:custGeom>
              <a:avLst/>
              <a:gdLst/>
              <a:ahLst/>
              <a:cxnLst/>
              <a:rect r="r" b="b" t="t" l="l"/>
              <a:pathLst>
                <a:path h="257175" w="321310">
                  <a:moveTo>
                    <a:pt x="0" y="0"/>
                  </a:moveTo>
                  <a:lnTo>
                    <a:pt x="321310" y="0"/>
                  </a:lnTo>
                  <a:lnTo>
                    <a:pt x="321310" y="257175"/>
                  </a:lnTo>
                  <a:lnTo>
                    <a:pt x="0" y="257175"/>
                  </a:lnTo>
                  <a:lnTo>
                    <a:pt x="0" y="0"/>
                  </a:lnTo>
                  <a:close/>
                </a:path>
              </a:pathLst>
            </a:custGeom>
            <a:blipFill>
              <a:blip r:embed="rId17"/>
              <a:stretch>
                <a:fillRect l="-23" t="0" r="-27" b="0"/>
              </a:stretch>
            </a:blipFill>
          </p:spPr>
        </p:sp>
      </p:grpSp>
      <p:sp>
        <p:nvSpPr>
          <p:cNvPr name="TextBox 57" id="57"/>
          <p:cNvSpPr txBox="true"/>
          <p:nvPr/>
        </p:nvSpPr>
        <p:spPr>
          <a:xfrm rot="0">
            <a:off x="1728902" y="8408527"/>
            <a:ext cx="15277900" cy="543630"/>
          </a:xfrm>
          <a:prstGeom prst="rect">
            <a:avLst/>
          </a:prstGeom>
        </p:spPr>
        <p:txBody>
          <a:bodyPr anchor="t" rtlCol="false" tIns="0" lIns="0" bIns="0" rIns="0">
            <a:spAutoFit/>
          </a:bodyPr>
          <a:lstStyle/>
          <a:p>
            <a:pPr algn="l">
              <a:lnSpc>
                <a:spcPts val="2035"/>
              </a:lnSpc>
            </a:pPr>
            <a:r>
              <a:rPr lang="en-US" sz="1501">
                <a:solidFill>
                  <a:srgbClr val="FFFFFF"/>
                </a:solidFill>
                <a:latin typeface="Barlow"/>
                <a:ea typeface="Barlow"/>
                <a:cs typeface="Barlow"/>
                <a:sym typeface="Barlow"/>
              </a:rPr>
              <a:t>The prototype successfully detects user presence, activates the dispensing mechanism, and provides real-time status information through the LCD display — all without any physical contact.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A081B">
                <a:alpha val="56078"/>
              </a:srgbClr>
            </a:solidFill>
          </p:spPr>
        </p:sp>
      </p:grpSp>
      <p:grpSp>
        <p:nvGrpSpPr>
          <p:cNvPr name="Group 6" id="6"/>
          <p:cNvGrpSpPr/>
          <p:nvPr/>
        </p:nvGrpSpPr>
        <p:grpSpPr>
          <a:xfrm rot="0">
            <a:off x="546316" y="126610"/>
            <a:ext cx="3274219" cy="477961"/>
            <a:chOff x="0" y="0"/>
            <a:chExt cx="2728251" cy="398262"/>
          </a:xfrm>
        </p:grpSpPr>
        <p:sp>
          <p:nvSpPr>
            <p:cNvPr name="Freeform 7" id="7"/>
            <p:cNvSpPr/>
            <p:nvPr/>
          </p:nvSpPr>
          <p:spPr>
            <a:xfrm flipH="false" flipV="false" rot="0">
              <a:off x="0" y="0"/>
              <a:ext cx="2728251" cy="398376"/>
            </a:xfrm>
            <a:custGeom>
              <a:avLst/>
              <a:gdLst/>
              <a:ahLst/>
              <a:cxnLst/>
              <a:rect r="r" b="b" t="t" l="l"/>
              <a:pathLst>
                <a:path h="398376" w="2728251">
                  <a:moveTo>
                    <a:pt x="0" y="199205"/>
                  </a:moveTo>
                  <a:cubicBezTo>
                    <a:pt x="0" y="89231"/>
                    <a:pt x="74993" y="0"/>
                    <a:pt x="167420" y="0"/>
                  </a:cubicBezTo>
                  <a:lnTo>
                    <a:pt x="2560831" y="0"/>
                  </a:lnTo>
                  <a:cubicBezTo>
                    <a:pt x="2653258" y="0"/>
                    <a:pt x="2728251" y="89231"/>
                    <a:pt x="2728251" y="199205"/>
                  </a:cubicBezTo>
                  <a:cubicBezTo>
                    <a:pt x="2728251" y="309180"/>
                    <a:pt x="2653258" y="398376"/>
                    <a:pt x="2560831" y="398376"/>
                  </a:cubicBezTo>
                  <a:lnTo>
                    <a:pt x="167420" y="398376"/>
                  </a:lnTo>
                  <a:cubicBezTo>
                    <a:pt x="74993" y="398246"/>
                    <a:pt x="0" y="309180"/>
                    <a:pt x="0" y="199205"/>
                  </a:cubicBezTo>
                  <a:close/>
                </a:path>
              </a:pathLst>
            </a:custGeom>
            <a:blipFill>
              <a:blip r:embed="rId4">
                <a:alphaModFix amt="0"/>
              </a:blip>
              <a:stretch>
                <a:fillRect l="0" t="-83922" r="8212" b="-61042"/>
              </a:stretch>
            </a:blipFill>
            <a:ln w="9532" cap="sq">
              <a:solidFill>
                <a:srgbClr val="16FFBB"/>
              </a:solidFill>
              <a:prstDash val="solid"/>
              <a:miter/>
            </a:ln>
          </p:spPr>
        </p:sp>
      </p:grpSp>
      <p:sp>
        <p:nvSpPr>
          <p:cNvPr name="TextBox 8" id="8"/>
          <p:cNvSpPr txBox="true"/>
          <p:nvPr/>
        </p:nvSpPr>
        <p:spPr>
          <a:xfrm rot="0">
            <a:off x="695442" y="249080"/>
            <a:ext cx="2980730" cy="223496"/>
          </a:xfrm>
          <a:prstGeom prst="rect">
            <a:avLst/>
          </a:prstGeom>
        </p:spPr>
        <p:txBody>
          <a:bodyPr anchor="t" rtlCol="false" tIns="0" lIns="0" bIns="0" rIns="0">
            <a:spAutoFit/>
          </a:bodyPr>
          <a:lstStyle/>
          <a:p>
            <a:pPr algn="l">
              <a:lnSpc>
                <a:spcPts val="1705"/>
              </a:lnSpc>
            </a:pPr>
            <a:r>
              <a:rPr lang="en-US" sz="1450">
                <a:solidFill>
                  <a:srgbClr val="16FFBB"/>
                </a:solidFill>
                <a:latin typeface="Barlow"/>
                <a:ea typeface="Barlow"/>
                <a:cs typeface="Barlow"/>
                <a:sym typeface="Barlow"/>
              </a:rPr>
              <a:t>CHAPTER 5 · FUTURE DEVELOPMENT</a:t>
            </a:r>
          </a:p>
        </p:txBody>
      </p:sp>
      <p:sp>
        <p:nvSpPr>
          <p:cNvPr name="TextBox 9" id="9"/>
          <p:cNvSpPr txBox="true"/>
          <p:nvPr/>
        </p:nvSpPr>
        <p:spPr>
          <a:xfrm rot="0">
            <a:off x="600710" y="662173"/>
            <a:ext cx="6354842" cy="385714"/>
          </a:xfrm>
          <a:prstGeom prst="rect">
            <a:avLst/>
          </a:prstGeom>
        </p:spPr>
        <p:txBody>
          <a:bodyPr anchor="t" rtlCol="false" tIns="0" lIns="0" bIns="0" rIns="0">
            <a:spAutoFit/>
          </a:bodyPr>
          <a:lstStyle/>
          <a:p>
            <a:pPr algn="l">
              <a:lnSpc>
                <a:spcPts val="2934"/>
              </a:lnSpc>
            </a:pPr>
            <a:r>
              <a:rPr lang="en-US" sz="2351" b="true">
                <a:solidFill>
                  <a:srgbClr val="F0FCFF"/>
                </a:solidFill>
                <a:latin typeface="Arimo Bold"/>
                <a:ea typeface="Arimo Bold"/>
                <a:cs typeface="Arimo Bold"/>
                <a:sym typeface="Arimo Bold"/>
              </a:rPr>
              <a:t>Roadmap: From Prototype to Smart Platform</a:t>
            </a:r>
          </a:p>
        </p:txBody>
      </p:sp>
      <p:sp>
        <p:nvSpPr>
          <p:cNvPr name="TextBox 10" id="10"/>
          <p:cNvSpPr txBox="true"/>
          <p:nvPr/>
        </p:nvSpPr>
        <p:spPr>
          <a:xfrm rot="0">
            <a:off x="554055" y="1140495"/>
            <a:ext cx="14401205" cy="262587"/>
          </a:xfrm>
          <a:prstGeom prst="rect">
            <a:avLst/>
          </a:prstGeom>
        </p:spPr>
        <p:txBody>
          <a:bodyPr anchor="t" rtlCol="false" tIns="0" lIns="0" bIns="0" rIns="0">
            <a:spAutoFit/>
          </a:bodyPr>
          <a:lstStyle/>
          <a:p>
            <a:pPr algn="l">
              <a:lnSpc>
                <a:spcPts val="2088"/>
              </a:lnSpc>
            </a:pPr>
            <a:r>
              <a:rPr lang="en-US" sz="1775">
                <a:solidFill>
                  <a:srgbClr val="E0E4E6"/>
                </a:solidFill>
                <a:latin typeface="Barlow"/>
                <a:ea typeface="Barlow"/>
                <a:cs typeface="Barlow"/>
                <a:sym typeface="Barlow"/>
              </a:rPr>
              <a:t>The Automatic Water Dispenser is designed to evolve across multiple versions, progressively adding intelligence, connectivity, and data capabilities.</a:t>
            </a:r>
          </a:p>
        </p:txBody>
      </p:sp>
      <p:sp>
        <p:nvSpPr>
          <p:cNvPr name="TextBox 11" id="11"/>
          <p:cNvSpPr txBox="true"/>
          <p:nvPr/>
        </p:nvSpPr>
        <p:spPr>
          <a:xfrm rot="0">
            <a:off x="551078" y="1532467"/>
            <a:ext cx="3470910" cy="284754"/>
          </a:xfrm>
          <a:prstGeom prst="rect">
            <a:avLst/>
          </a:prstGeom>
        </p:spPr>
        <p:txBody>
          <a:bodyPr anchor="t" rtlCol="false" tIns="0" lIns="0" bIns="0" rIns="0">
            <a:spAutoFit/>
          </a:bodyPr>
          <a:lstStyle/>
          <a:p>
            <a:pPr algn="l">
              <a:lnSpc>
                <a:spcPts val="2153"/>
              </a:lnSpc>
            </a:pPr>
            <a:r>
              <a:rPr lang="en-US" b="true" sz="1725">
                <a:solidFill>
                  <a:srgbClr val="FFFFFF"/>
                </a:solidFill>
                <a:latin typeface="Arimo Bold"/>
                <a:ea typeface="Arimo Bold"/>
                <a:cs typeface="Arimo Bold"/>
                <a:sym typeface="Arimo Bold"/>
              </a:rPr>
              <a:t>Version 2 — Enhanced Reliability</a:t>
            </a:r>
          </a:p>
        </p:txBody>
      </p:sp>
      <p:sp>
        <p:nvSpPr>
          <p:cNvPr name="TextBox 12" id="12"/>
          <p:cNvSpPr txBox="true"/>
          <p:nvPr/>
        </p:nvSpPr>
        <p:spPr>
          <a:xfrm rot="0">
            <a:off x="397654" y="1859375"/>
            <a:ext cx="8367189" cy="1034112"/>
          </a:xfrm>
          <a:prstGeom prst="rect">
            <a:avLst/>
          </a:prstGeom>
        </p:spPr>
        <p:txBody>
          <a:bodyPr anchor="t" rtlCol="false" tIns="0" lIns="0" bIns="0" rIns="0">
            <a:spAutoFit/>
          </a:bodyPr>
          <a:lstStyle/>
          <a:p>
            <a:pPr algn="l" marL="321616" indent="-160808" lvl="1">
              <a:lnSpc>
                <a:spcPts val="2088"/>
              </a:lnSpc>
              <a:buFont typeface="Arial"/>
              <a:buChar char="•"/>
            </a:pPr>
            <a:r>
              <a:rPr lang="en-US" sz="1775">
                <a:solidFill>
                  <a:srgbClr val="FFFFFF"/>
                </a:solidFill>
                <a:latin typeface="Barlow"/>
                <a:ea typeface="Barlow"/>
                <a:cs typeface="Barlow"/>
                <a:sym typeface="Barlow"/>
              </a:rPr>
              <a:t>Water level monitoring sensor</a:t>
            </a:r>
          </a:p>
          <a:p>
            <a:pPr algn="l" marL="321616" indent="-160808" lvl="1">
              <a:lnSpc>
                <a:spcPts val="2088"/>
              </a:lnSpc>
              <a:buFont typeface="Arial"/>
              <a:buChar char="•"/>
            </a:pPr>
            <a:r>
              <a:rPr lang="en-US" sz="1775">
                <a:solidFill>
                  <a:srgbClr val="FFFFFF"/>
                </a:solidFill>
                <a:latin typeface="Barlow"/>
                <a:ea typeface="Barlow"/>
                <a:cs typeface="Barlow"/>
                <a:sym typeface="Barlow"/>
              </a:rPr>
              <a:t>LED status indicators for visual feedback</a:t>
            </a:r>
          </a:p>
          <a:p>
            <a:pPr algn="l" marL="321616" indent="-160808" lvl="1">
              <a:lnSpc>
                <a:spcPts val="2088"/>
              </a:lnSpc>
              <a:buFont typeface="Arial"/>
              <a:buChar char="•"/>
            </a:pPr>
            <a:r>
              <a:rPr lang="en-US" sz="1775">
                <a:solidFill>
                  <a:srgbClr val="FFFFFF"/>
                </a:solidFill>
                <a:latin typeface="Barlow"/>
                <a:ea typeface="Barlow"/>
                <a:cs typeface="Barlow"/>
                <a:sym typeface="Barlow"/>
              </a:rPr>
              <a:t>Improved enclosure design for durability</a:t>
            </a:r>
          </a:p>
          <a:p>
            <a:pPr algn="l" marL="321616" indent="-160808" lvl="1">
              <a:lnSpc>
                <a:spcPts val="2088"/>
              </a:lnSpc>
              <a:buFont typeface="Arial"/>
              <a:buChar char="•"/>
            </a:pPr>
            <a:r>
              <a:rPr lang="en-US" sz="1775">
                <a:solidFill>
                  <a:srgbClr val="FFFFFF"/>
                </a:solidFill>
                <a:latin typeface="Barlow"/>
                <a:ea typeface="Barlow"/>
                <a:cs typeface="Barlow"/>
                <a:sym typeface="Barlow"/>
              </a:rPr>
              <a:t>Adjustable dispensing volume control</a:t>
            </a:r>
          </a:p>
        </p:txBody>
      </p:sp>
      <p:sp>
        <p:nvSpPr>
          <p:cNvPr name="TextBox 13" id="13"/>
          <p:cNvSpPr txBox="true"/>
          <p:nvPr/>
        </p:nvSpPr>
        <p:spPr>
          <a:xfrm rot="0">
            <a:off x="9114491" y="1404377"/>
            <a:ext cx="3982522" cy="284754"/>
          </a:xfrm>
          <a:prstGeom prst="rect">
            <a:avLst/>
          </a:prstGeom>
        </p:spPr>
        <p:txBody>
          <a:bodyPr anchor="t" rtlCol="false" tIns="0" lIns="0" bIns="0" rIns="0">
            <a:spAutoFit/>
          </a:bodyPr>
          <a:lstStyle/>
          <a:p>
            <a:pPr algn="l">
              <a:lnSpc>
                <a:spcPts val="2153"/>
              </a:lnSpc>
            </a:pPr>
            <a:r>
              <a:rPr lang="en-US" sz="1725" b="true">
                <a:solidFill>
                  <a:srgbClr val="F0FCFF"/>
                </a:solidFill>
                <a:latin typeface="Arimo Bold"/>
                <a:ea typeface="Arimo Bold"/>
                <a:cs typeface="Arimo Bold"/>
                <a:sym typeface="Arimo Bold"/>
              </a:rPr>
              <a:t>Version 3 — Smart Connected System</a:t>
            </a:r>
          </a:p>
        </p:txBody>
      </p:sp>
      <p:sp>
        <p:nvSpPr>
          <p:cNvPr name="TextBox 14" id="14"/>
          <p:cNvSpPr txBox="true"/>
          <p:nvPr/>
        </p:nvSpPr>
        <p:spPr>
          <a:xfrm rot="0">
            <a:off x="9114491" y="1808305"/>
            <a:ext cx="8440179" cy="1291287"/>
          </a:xfrm>
          <a:prstGeom prst="rect">
            <a:avLst/>
          </a:prstGeom>
        </p:spPr>
        <p:txBody>
          <a:bodyPr anchor="t" rtlCol="false" tIns="0" lIns="0" bIns="0" rIns="0">
            <a:spAutoFit/>
          </a:bodyPr>
          <a:lstStyle/>
          <a:p>
            <a:pPr algn="l" marL="321616" indent="-160808" lvl="1">
              <a:lnSpc>
                <a:spcPts val="2088"/>
              </a:lnSpc>
              <a:buFont typeface="Arial"/>
              <a:buChar char="•"/>
            </a:pPr>
            <a:r>
              <a:rPr lang="en-US" sz="1775">
                <a:solidFill>
                  <a:srgbClr val="E0E4E6"/>
                </a:solidFill>
                <a:latin typeface="Barlow"/>
                <a:ea typeface="Barlow"/>
                <a:cs typeface="Barlow"/>
                <a:sym typeface="Barlow"/>
              </a:rPr>
              <a:t>ESP32 microcontroller integration</a:t>
            </a:r>
          </a:p>
          <a:p>
            <a:pPr algn="l" marL="321616" indent="-160808" lvl="1">
              <a:lnSpc>
                <a:spcPts val="2088"/>
              </a:lnSpc>
              <a:buFont typeface="Arial"/>
              <a:buChar char="•"/>
            </a:pPr>
            <a:r>
              <a:rPr lang="en-US" sz="1775">
                <a:solidFill>
                  <a:srgbClr val="E0E4E6"/>
                </a:solidFill>
                <a:latin typeface="Barlow"/>
                <a:ea typeface="Barlow"/>
                <a:cs typeface="Barlow"/>
                <a:sym typeface="Barlow"/>
              </a:rPr>
              <a:t>Wi-Fi connectivity for remote monitoring</a:t>
            </a:r>
          </a:p>
          <a:p>
            <a:pPr algn="l" marL="321616" indent="-160808" lvl="1">
              <a:lnSpc>
                <a:spcPts val="2088"/>
              </a:lnSpc>
              <a:buFont typeface="Arial"/>
              <a:buChar char="•"/>
            </a:pPr>
            <a:r>
              <a:rPr lang="en-US" sz="1775">
                <a:solidFill>
                  <a:srgbClr val="E0E4E6"/>
                </a:solidFill>
                <a:latin typeface="Barlow"/>
                <a:ea typeface="Barlow"/>
                <a:cs typeface="Barlow"/>
                <a:sym typeface="Barlow"/>
              </a:rPr>
              <a:t>Mobile application support</a:t>
            </a:r>
          </a:p>
          <a:p>
            <a:pPr algn="l" marL="321616" indent="-160808" lvl="1">
              <a:lnSpc>
                <a:spcPts val="2088"/>
              </a:lnSpc>
              <a:buFont typeface="Arial"/>
              <a:buChar char="•"/>
            </a:pPr>
            <a:r>
              <a:rPr lang="en-US" sz="1775">
                <a:solidFill>
                  <a:srgbClr val="E0E4E6"/>
                </a:solidFill>
                <a:latin typeface="Barlow"/>
                <a:ea typeface="Barlow"/>
                <a:cs typeface="Barlow"/>
                <a:sym typeface="Barlow"/>
              </a:rPr>
              <a:t>Water consumption analytics dashboard</a:t>
            </a:r>
          </a:p>
          <a:p>
            <a:pPr algn="l" marL="321616" indent="-160808" lvl="1">
              <a:lnSpc>
                <a:spcPts val="2088"/>
              </a:lnSpc>
              <a:buFont typeface="Arial"/>
              <a:buChar char="•"/>
            </a:pPr>
            <a:r>
              <a:rPr lang="en-US" sz="1775">
                <a:solidFill>
                  <a:srgbClr val="E0E4E6"/>
                </a:solidFill>
                <a:latin typeface="Barlow"/>
                <a:ea typeface="Barlow"/>
                <a:cs typeface="Barlow"/>
                <a:sym typeface="Barlow"/>
              </a:rPr>
              <a:t>Cloud monitoring capabilities</a:t>
            </a:r>
          </a:p>
        </p:txBody>
      </p:sp>
      <p:sp>
        <p:nvSpPr>
          <p:cNvPr name="TextBox 15" id="15"/>
          <p:cNvSpPr txBox="true"/>
          <p:nvPr/>
        </p:nvSpPr>
        <p:spPr>
          <a:xfrm rot="0">
            <a:off x="554055" y="3012002"/>
            <a:ext cx="1754624" cy="275839"/>
          </a:xfrm>
          <a:prstGeom prst="rect">
            <a:avLst/>
          </a:prstGeom>
        </p:spPr>
        <p:txBody>
          <a:bodyPr anchor="t" rtlCol="false" tIns="0" lIns="0" bIns="0" rIns="0">
            <a:spAutoFit/>
          </a:bodyPr>
          <a:lstStyle/>
          <a:p>
            <a:pPr algn="l">
              <a:lnSpc>
                <a:spcPts val="2029"/>
              </a:lnSpc>
            </a:pPr>
            <a:r>
              <a:rPr lang="en-US" sz="1625" b="true">
                <a:solidFill>
                  <a:srgbClr val="F0FCFF"/>
                </a:solidFill>
                <a:latin typeface="Arimo Bold"/>
                <a:ea typeface="Arimo Bold"/>
                <a:cs typeface="Arimo Bold"/>
                <a:sym typeface="Arimo Bold"/>
              </a:rPr>
              <a:t>Long-Term Vision</a:t>
            </a:r>
          </a:p>
        </p:txBody>
      </p:sp>
      <p:sp>
        <p:nvSpPr>
          <p:cNvPr name="TextBox 16" id="16"/>
          <p:cNvSpPr txBox="true"/>
          <p:nvPr/>
        </p:nvSpPr>
        <p:spPr>
          <a:xfrm rot="0">
            <a:off x="531340" y="3311313"/>
            <a:ext cx="17756660" cy="519762"/>
          </a:xfrm>
          <a:prstGeom prst="rect">
            <a:avLst/>
          </a:prstGeom>
        </p:spPr>
        <p:txBody>
          <a:bodyPr anchor="t" rtlCol="false" tIns="0" lIns="0" bIns="0" rIns="0">
            <a:spAutoFit/>
          </a:bodyPr>
          <a:lstStyle/>
          <a:p>
            <a:pPr algn="l">
              <a:lnSpc>
                <a:spcPts val="2088"/>
              </a:lnSpc>
            </a:pPr>
            <a:r>
              <a:rPr lang="en-US" sz="1775">
                <a:solidFill>
                  <a:srgbClr val="E0E4E6"/>
                </a:solidFill>
                <a:latin typeface="Barlow"/>
                <a:ea typeface="Barlow"/>
                <a:cs typeface="Barlow"/>
                <a:sym typeface="Barlow"/>
              </a:rPr>
              <a:t>The project aims to evolve into a </a:t>
            </a:r>
            <a:r>
              <a:rPr lang="en-US" sz="1775" b="true">
                <a:solidFill>
                  <a:srgbClr val="E0E4E6"/>
                </a:solidFill>
                <a:latin typeface="Barlow Bold"/>
                <a:ea typeface="Barlow Bold"/>
                <a:cs typeface="Barlow Bold"/>
                <a:sym typeface="Barlow Bold"/>
              </a:rPr>
              <a:t>smart water management platform</a:t>
            </a:r>
            <a:r>
              <a:rPr lang="en-US" sz="1775">
                <a:solidFill>
                  <a:srgbClr val="E0E4E6"/>
                </a:solidFill>
                <a:latin typeface="Barlow"/>
                <a:ea typeface="Barlow"/>
                <a:cs typeface="Barlow"/>
                <a:sym typeface="Barlow"/>
              </a:rPr>
              <a:t> suitable for deployment across schools, offices, hospitals, and public infrastructure — transforming a simple hygiene solution into an intelligent, data-driven system.</a:t>
            </a:r>
          </a:p>
        </p:txBody>
      </p:sp>
      <p:grpSp>
        <p:nvGrpSpPr>
          <p:cNvPr name="Group 17" id="17"/>
          <p:cNvGrpSpPr/>
          <p:nvPr/>
        </p:nvGrpSpPr>
        <p:grpSpPr>
          <a:xfrm rot="0">
            <a:off x="1876987" y="3773316"/>
            <a:ext cx="11351966" cy="6336137"/>
            <a:chOff x="0" y="0"/>
            <a:chExt cx="17488421" cy="9761220"/>
          </a:xfrm>
        </p:grpSpPr>
        <p:sp>
          <p:nvSpPr>
            <p:cNvPr name="Freeform 18" id="18" descr="preencoded.png"/>
            <p:cNvSpPr/>
            <p:nvPr/>
          </p:nvSpPr>
          <p:spPr>
            <a:xfrm flipH="false" flipV="false" rot="0">
              <a:off x="0" y="0"/>
              <a:ext cx="17488408" cy="9761220"/>
            </a:xfrm>
            <a:custGeom>
              <a:avLst/>
              <a:gdLst/>
              <a:ahLst/>
              <a:cxnLst/>
              <a:rect r="r" b="b" t="t" l="l"/>
              <a:pathLst>
                <a:path h="9761220" w="17488408">
                  <a:moveTo>
                    <a:pt x="0" y="0"/>
                  </a:moveTo>
                  <a:lnTo>
                    <a:pt x="17488408" y="0"/>
                  </a:lnTo>
                  <a:lnTo>
                    <a:pt x="17488408" y="9761220"/>
                  </a:lnTo>
                  <a:lnTo>
                    <a:pt x="0" y="9761220"/>
                  </a:lnTo>
                  <a:lnTo>
                    <a:pt x="0" y="0"/>
                  </a:lnTo>
                  <a:close/>
                </a:path>
              </a:pathLst>
            </a:custGeom>
            <a:blipFill>
              <a:blip r:embed="rId5"/>
              <a:stretch>
                <a:fillRect l="-1" t="0" r="-1"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A081B">
                <a:alpha val="56078"/>
              </a:srgbClr>
            </a:solidFill>
          </p:spPr>
        </p:sp>
      </p:grpSp>
      <p:grpSp>
        <p:nvGrpSpPr>
          <p:cNvPr name="Group 6" id="6"/>
          <p:cNvGrpSpPr/>
          <p:nvPr/>
        </p:nvGrpSpPr>
        <p:grpSpPr>
          <a:xfrm rot="0">
            <a:off x="1092632" y="1178747"/>
            <a:ext cx="2909554" cy="575224"/>
            <a:chOff x="0" y="0"/>
            <a:chExt cx="3879405" cy="766966"/>
          </a:xfrm>
        </p:grpSpPr>
        <p:sp>
          <p:nvSpPr>
            <p:cNvPr name="Freeform 7" id="7"/>
            <p:cNvSpPr/>
            <p:nvPr/>
          </p:nvSpPr>
          <p:spPr>
            <a:xfrm flipH="false" flipV="false" rot="0">
              <a:off x="0" y="0"/>
              <a:ext cx="3879469" cy="767080"/>
            </a:xfrm>
            <a:custGeom>
              <a:avLst/>
              <a:gdLst/>
              <a:ahLst/>
              <a:cxnLst/>
              <a:rect r="r" b="b" t="t" l="l"/>
              <a:pathLst>
                <a:path h="767080" w="3879469">
                  <a:moveTo>
                    <a:pt x="0" y="383540"/>
                  </a:moveTo>
                  <a:cubicBezTo>
                    <a:pt x="0" y="171704"/>
                    <a:pt x="171704" y="0"/>
                    <a:pt x="383540" y="0"/>
                  </a:cubicBezTo>
                  <a:lnTo>
                    <a:pt x="3495929" y="0"/>
                  </a:lnTo>
                  <a:cubicBezTo>
                    <a:pt x="3707765" y="0"/>
                    <a:pt x="3879469" y="171704"/>
                    <a:pt x="3879469" y="383540"/>
                  </a:cubicBezTo>
                  <a:cubicBezTo>
                    <a:pt x="3879469" y="595376"/>
                    <a:pt x="3707765" y="767080"/>
                    <a:pt x="3495929" y="767080"/>
                  </a:cubicBezTo>
                  <a:lnTo>
                    <a:pt x="383540" y="767080"/>
                  </a:lnTo>
                  <a:cubicBezTo>
                    <a:pt x="171704" y="766953"/>
                    <a:pt x="0" y="595249"/>
                    <a:pt x="0" y="383540"/>
                  </a:cubicBezTo>
                  <a:close/>
                </a:path>
              </a:pathLst>
            </a:custGeom>
            <a:blipFill>
              <a:blip r:embed="rId4">
                <a:alphaModFix amt="0"/>
              </a:blip>
              <a:stretch>
                <a:fillRect l="0" t="-48550" r="1" b="-48535"/>
              </a:stretch>
            </a:blipFill>
            <a:ln w="19065" cap="sq">
              <a:solidFill>
                <a:srgbClr val="16FFBB"/>
              </a:solidFill>
              <a:prstDash val="solid"/>
              <a:miter/>
            </a:ln>
          </p:spPr>
        </p:sp>
      </p:grpSp>
      <p:sp>
        <p:nvSpPr>
          <p:cNvPr name="TextBox 8" id="8"/>
          <p:cNvSpPr txBox="true"/>
          <p:nvPr/>
        </p:nvSpPr>
        <p:spPr>
          <a:xfrm rot="0">
            <a:off x="1286551" y="1223334"/>
            <a:ext cx="3436810" cy="419376"/>
          </a:xfrm>
          <a:prstGeom prst="rect">
            <a:avLst/>
          </a:prstGeom>
        </p:spPr>
        <p:txBody>
          <a:bodyPr anchor="t" rtlCol="false" tIns="0" lIns="0" bIns="0" rIns="0">
            <a:spAutoFit/>
          </a:bodyPr>
          <a:lstStyle/>
          <a:p>
            <a:pPr algn="l">
              <a:lnSpc>
                <a:spcPts val="2755"/>
              </a:lnSpc>
            </a:pPr>
            <a:r>
              <a:rPr lang="en-US" sz="1726">
                <a:solidFill>
                  <a:srgbClr val="16FFBB"/>
                </a:solidFill>
                <a:latin typeface="Barlow"/>
                <a:ea typeface="Barlow"/>
                <a:cs typeface="Barlow"/>
                <a:sym typeface="Barlow"/>
              </a:rPr>
              <a:t>CHAPTER 6 · CONCLUSION</a:t>
            </a:r>
          </a:p>
        </p:txBody>
      </p:sp>
      <p:sp>
        <p:nvSpPr>
          <p:cNvPr name="TextBox 9" id="9"/>
          <p:cNvSpPr txBox="true"/>
          <p:nvPr/>
        </p:nvSpPr>
        <p:spPr>
          <a:xfrm rot="0">
            <a:off x="1102157" y="1816560"/>
            <a:ext cx="7038937" cy="803672"/>
          </a:xfrm>
          <a:prstGeom prst="rect">
            <a:avLst/>
          </a:prstGeom>
        </p:spPr>
        <p:txBody>
          <a:bodyPr anchor="t" rtlCol="false" tIns="0" lIns="0" bIns="0" rIns="0">
            <a:spAutoFit/>
          </a:bodyPr>
          <a:lstStyle/>
          <a:p>
            <a:pPr algn="l">
              <a:lnSpc>
                <a:spcPts val="5995"/>
              </a:lnSpc>
            </a:pPr>
            <a:r>
              <a:rPr lang="en-US" sz="4803" b="true">
                <a:solidFill>
                  <a:srgbClr val="F0FCFF"/>
                </a:solidFill>
                <a:latin typeface="Arimo Bold"/>
                <a:ea typeface="Arimo Bold"/>
                <a:cs typeface="Arimo Bold"/>
                <a:sym typeface="Arimo Bold"/>
              </a:rPr>
              <a:t>Conclusion</a:t>
            </a:r>
          </a:p>
        </p:txBody>
      </p:sp>
      <p:sp>
        <p:nvSpPr>
          <p:cNvPr name="TextBox 10" id="10"/>
          <p:cNvSpPr txBox="true"/>
          <p:nvPr/>
        </p:nvSpPr>
        <p:spPr>
          <a:xfrm rot="0">
            <a:off x="1102157" y="2957351"/>
            <a:ext cx="16097517" cy="1398822"/>
          </a:xfrm>
          <a:prstGeom prst="rect">
            <a:avLst/>
          </a:prstGeom>
        </p:spPr>
        <p:txBody>
          <a:bodyPr anchor="t" rtlCol="false" tIns="0" lIns="0" bIns="0" rIns="0">
            <a:spAutoFit/>
          </a:bodyPr>
          <a:lstStyle/>
          <a:p>
            <a:pPr algn="l">
              <a:lnSpc>
                <a:spcPts val="3354"/>
              </a:lnSpc>
            </a:pPr>
            <a:r>
              <a:rPr lang="en-US" sz="2101">
                <a:solidFill>
                  <a:srgbClr val="E0E4E6"/>
                </a:solidFill>
                <a:latin typeface="Barlow"/>
                <a:ea typeface="Barlow"/>
                <a:cs typeface="Barlow"/>
                <a:sym typeface="Barlow"/>
              </a:rPr>
              <a:t>The Automatic Water Dispenser demonstrates how </a:t>
            </a:r>
            <a:r>
              <a:rPr lang="en-US" sz="2101" b="true">
                <a:solidFill>
                  <a:srgbClr val="E0E4E6"/>
                </a:solidFill>
                <a:latin typeface="Barlow Bold"/>
                <a:ea typeface="Barlow Bold"/>
                <a:cs typeface="Barlow Bold"/>
                <a:sym typeface="Barlow Bold"/>
              </a:rPr>
              <a:t>embedded systems and automation</a:t>
            </a:r>
            <a:r>
              <a:rPr lang="en-US" sz="2101">
                <a:solidFill>
                  <a:srgbClr val="E0E4E6"/>
                </a:solidFill>
                <a:latin typeface="Barlow"/>
                <a:ea typeface="Barlow"/>
                <a:cs typeface="Barlow"/>
                <a:sym typeface="Barlow"/>
              </a:rPr>
              <a:t> can solve practical real-world problems. By combining sensing technology, actuator control, and user interaction, the project successfully delivers a hygienic and efficient touchless dispensing solution.</a:t>
            </a:r>
          </a:p>
        </p:txBody>
      </p:sp>
      <p:grpSp>
        <p:nvGrpSpPr>
          <p:cNvPr name="Group 11" id="11"/>
          <p:cNvGrpSpPr/>
          <p:nvPr/>
        </p:nvGrpSpPr>
        <p:grpSpPr>
          <a:xfrm rot="0">
            <a:off x="1083097" y="4647067"/>
            <a:ext cx="7949117" cy="2977096"/>
            <a:chOff x="0" y="0"/>
            <a:chExt cx="10598823" cy="3969461"/>
          </a:xfrm>
        </p:grpSpPr>
        <p:sp>
          <p:nvSpPr>
            <p:cNvPr name="Freeform 12" id="12"/>
            <p:cNvSpPr/>
            <p:nvPr/>
          </p:nvSpPr>
          <p:spPr>
            <a:xfrm flipH="false" flipV="false" rot="0">
              <a:off x="0" y="0"/>
              <a:ext cx="10598786" cy="3969512"/>
            </a:xfrm>
            <a:custGeom>
              <a:avLst/>
              <a:gdLst/>
              <a:ahLst/>
              <a:cxnLst/>
              <a:rect r="r" b="b" t="t" l="l"/>
              <a:pathLst>
                <a:path h="3969512" w="10598786">
                  <a:moveTo>
                    <a:pt x="0" y="558292"/>
                  </a:moveTo>
                  <a:cubicBezTo>
                    <a:pt x="0" y="249936"/>
                    <a:pt x="249936" y="0"/>
                    <a:pt x="558292" y="0"/>
                  </a:cubicBezTo>
                  <a:lnTo>
                    <a:pt x="10040493" y="0"/>
                  </a:lnTo>
                  <a:cubicBezTo>
                    <a:pt x="10348850" y="0"/>
                    <a:pt x="10598786" y="249936"/>
                    <a:pt x="10598786" y="558292"/>
                  </a:cubicBezTo>
                  <a:lnTo>
                    <a:pt x="10598786" y="3411220"/>
                  </a:lnTo>
                  <a:cubicBezTo>
                    <a:pt x="10598786" y="3719576"/>
                    <a:pt x="10348850" y="3969512"/>
                    <a:pt x="10040493" y="3969512"/>
                  </a:cubicBezTo>
                  <a:lnTo>
                    <a:pt x="558292" y="3969512"/>
                  </a:lnTo>
                  <a:cubicBezTo>
                    <a:pt x="249936" y="3969512"/>
                    <a:pt x="0" y="3719449"/>
                    <a:pt x="0" y="3411220"/>
                  </a:cubicBezTo>
                  <a:close/>
                </a:path>
              </a:pathLst>
            </a:custGeom>
            <a:solidFill>
              <a:srgbClr val="0A081B">
                <a:alpha val="56078"/>
              </a:srgbClr>
            </a:solidFill>
            <a:ln w="38128" cap="sq">
              <a:solidFill>
                <a:srgbClr val="16FFBB"/>
              </a:solidFill>
              <a:prstDash val="solid"/>
              <a:miter/>
            </a:ln>
          </p:spPr>
        </p:sp>
      </p:grpSp>
      <p:sp>
        <p:nvSpPr>
          <p:cNvPr name="TextBox 13" id="13"/>
          <p:cNvSpPr txBox="true"/>
          <p:nvPr/>
        </p:nvSpPr>
        <p:spPr>
          <a:xfrm rot="0">
            <a:off x="1415834" y="4960763"/>
            <a:ext cx="3061926" cy="401841"/>
          </a:xfrm>
          <a:prstGeom prst="rect">
            <a:avLst/>
          </a:prstGeom>
        </p:spPr>
        <p:txBody>
          <a:bodyPr anchor="t" rtlCol="false" tIns="0" lIns="0" bIns="0" rIns="0">
            <a:spAutoFit/>
          </a:bodyPr>
          <a:lstStyle/>
          <a:p>
            <a:pPr algn="l">
              <a:lnSpc>
                <a:spcPts val="2997"/>
              </a:lnSpc>
            </a:pPr>
            <a:r>
              <a:rPr lang="en-US" sz="2401" b="true">
                <a:solidFill>
                  <a:srgbClr val="E0E4E6"/>
                </a:solidFill>
                <a:latin typeface="Arimo Bold"/>
                <a:ea typeface="Arimo Bold"/>
                <a:cs typeface="Arimo Bold"/>
                <a:sym typeface="Arimo Bold"/>
              </a:rPr>
              <a:t>What We Achieved</a:t>
            </a:r>
          </a:p>
        </p:txBody>
      </p:sp>
      <p:sp>
        <p:nvSpPr>
          <p:cNvPr name="TextBox 14" id="14"/>
          <p:cNvSpPr txBox="true"/>
          <p:nvPr/>
        </p:nvSpPr>
        <p:spPr>
          <a:xfrm rot="0">
            <a:off x="1415834" y="5451729"/>
            <a:ext cx="7283653" cy="1398822"/>
          </a:xfrm>
          <a:prstGeom prst="rect">
            <a:avLst/>
          </a:prstGeom>
        </p:spPr>
        <p:txBody>
          <a:bodyPr anchor="t" rtlCol="false" tIns="0" lIns="0" bIns="0" rIns="0">
            <a:spAutoFit/>
          </a:bodyPr>
          <a:lstStyle/>
          <a:p>
            <a:pPr algn="l">
              <a:lnSpc>
                <a:spcPts val="3354"/>
              </a:lnSpc>
            </a:pPr>
            <a:r>
              <a:rPr lang="en-US" sz="2101">
                <a:solidFill>
                  <a:srgbClr val="E0E4E6"/>
                </a:solidFill>
                <a:latin typeface="Barlow"/>
                <a:ea typeface="Barlow"/>
                <a:cs typeface="Barlow"/>
                <a:sym typeface="Barlow"/>
              </a:rPr>
              <a:t>A fully functional, autonomous prototype that detects user presence, dispenses water on demand, and communicates status — all without physical contact.</a:t>
            </a:r>
          </a:p>
        </p:txBody>
      </p:sp>
      <p:grpSp>
        <p:nvGrpSpPr>
          <p:cNvPr name="Group 15" id="15"/>
          <p:cNvGrpSpPr/>
          <p:nvPr/>
        </p:nvGrpSpPr>
        <p:grpSpPr>
          <a:xfrm rot="0">
            <a:off x="9269625" y="4647067"/>
            <a:ext cx="7949117" cy="2977096"/>
            <a:chOff x="0" y="0"/>
            <a:chExt cx="10598823" cy="3969461"/>
          </a:xfrm>
        </p:grpSpPr>
        <p:sp>
          <p:nvSpPr>
            <p:cNvPr name="Freeform 16" id="16"/>
            <p:cNvSpPr/>
            <p:nvPr/>
          </p:nvSpPr>
          <p:spPr>
            <a:xfrm flipH="false" flipV="false" rot="0">
              <a:off x="0" y="0"/>
              <a:ext cx="10598786" cy="3969512"/>
            </a:xfrm>
            <a:custGeom>
              <a:avLst/>
              <a:gdLst/>
              <a:ahLst/>
              <a:cxnLst/>
              <a:rect r="r" b="b" t="t" l="l"/>
              <a:pathLst>
                <a:path h="3969512" w="10598786">
                  <a:moveTo>
                    <a:pt x="0" y="558292"/>
                  </a:moveTo>
                  <a:cubicBezTo>
                    <a:pt x="0" y="249936"/>
                    <a:pt x="249936" y="0"/>
                    <a:pt x="558292" y="0"/>
                  </a:cubicBezTo>
                  <a:lnTo>
                    <a:pt x="10040493" y="0"/>
                  </a:lnTo>
                  <a:cubicBezTo>
                    <a:pt x="10348850" y="0"/>
                    <a:pt x="10598786" y="249936"/>
                    <a:pt x="10598786" y="558292"/>
                  </a:cubicBezTo>
                  <a:lnTo>
                    <a:pt x="10598786" y="3411220"/>
                  </a:lnTo>
                  <a:cubicBezTo>
                    <a:pt x="10598786" y="3719576"/>
                    <a:pt x="10348850" y="3969512"/>
                    <a:pt x="10040493" y="3969512"/>
                  </a:cubicBezTo>
                  <a:lnTo>
                    <a:pt x="558292" y="3969512"/>
                  </a:lnTo>
                  <a:cubicBezTo>
                    <a:pt x="249936" y="3969512"/>
                    <a:pt x="0" y="3719449"/>
                    <a:pt x="0" y="3411220"/>
                  </a:cubicBezTo>
                  <a:close/>
                </a:path>
              </a:pathLst>
            </a:custGeom>
            <a:solidFill>
              <a:srgbClr val="0A081B">
                <a:alpha val="56078"/>
              </a:srgbClr>
            </a:solidFill>
            <a:ln w="38128" cap="sq">
              <a:solidFill>
                <a:srgbClr val="29DDDA"/>
              </a:solidFill>
              <a:prstDash val="solid"/>
              <a:miter/>
            </a:ln>
          </p:spPr>
        </p:sp>
      </p:grpSp>
      <p:sp>
        <p:nvSpPr>
          <p:cNvPr name="TextBox 17" id="17"/>
          <p:cNvSpPr txBox="true"/>
          <p:nvPr/>
        </p:nvSpPr>
        <p:spPr>
          <a:xfrm rot="0">
            <a:off x="9602362" y="4960763"/>
            <a:ext cx="3061926" cy="401841"/>
          </a:xfrm>
          <a:prstGeom prst="rect">
            <a:avLst/>
          </a:prstGeom>
        </p:spPr>
        <p:txBody>
          <a:bodyPr anchor="t" rtlCol="false" tIns="0" lIns="0" bIns="0" rIns="0">
            <a:spAutoFit/>
          </a:bodyPr>
          <a:lstStyle/>
          <a:p>
            <a:pPr algn="l">
              <a:lnSpc>
                <a:spcPts val="2997"/>
              </a:lnSpc>
            </a:pPr>
            <a:r>
              <a:rPr lang="en-US" sz="2401" b="true">
                <a:solidFill>
                  <a:srgbClr val="E0E4E6"/>
                </a:solidFill>
                <a:latin typeface="Arimo Bold"/>
                <a:ea typeface="Arimo Bold"/>
                <a:cs typeface="Arimo Bold"/>
                <a:sym typeface="Arimo Bold"/>
              </a:rPr>
              <a:t>What It Represents</a:t>
            </a:r>
          </a:p>
        </p:txBody>
      </p:sp>
      <p:sp>
        <p:nvSpPr>
          <p:cNvPr name="TextBox 18" id="18"/>
          <p:cNvSpPr txBox="true"/>
          <p:nvPr/>
        </p:nvSpPr>
        <p:spPr>
          <a:xfrm rot="0">
            <a:off x="9602362" y="5451729"/>
            <a:ext cx="7283653" cy="1839706"/>
          </a:xfrm>
          <a:prstGeom prst="rect">
            <a:avLst/>
          </a:prstGeom>
        </p:spPr>
        <p:txBody>
          <a:bodyPr anchor="t" rtlCol="false" tIns="0" lIns="0" bIns="0" rIns="0">
            <a:spAutoFit/>
          </a:bodyPr>
          <a:lstStyle/>
          <a:p>
            <a:pPr algn="l">
              <a:lnSpc>
                <a:spcPts val="3354"/>
              </a:lnSpc>
            </a:pPr>
            <a:r>
              <a:rPr lang="en-US" sz="2101">
                <a:solidFill>
                  <a:srgbClr val="E0E4E6"/>
                </a:solidFill>
                <a:latin typeface="Barlow"/>
                <a:ea typeface="Barlow"/>
                <a:cs typeface="Barlow"/>
                <a:sym typeface="Barlow"/>
              </a:rPr>
              <a:t>This prototype serves as the foundation for future smart water management products and showcases the potential of engineering-driven innovation to improve everyday experiences.</a:t>
            </a:r>
          </a:p>
        </p:txBody>
      </p:sp>
      <p:sp>
        <p:nvSpPr>
          <p:cNvPr name="TextBox 19" id="19"/>
          <p:cNvSpPr txBox="true"/>
          <p:nvPr/>
        </p:nvSpPr>
        <p:spPr>
          <a:xfrm rot="0">
            <a:off x="1515475" y="7838856"/>
            <a:ext cx="16599303" cy="517074"/>
          </a:xfrm>
          <a:prstGeom prst="rect">
            <a:avLst/>
          </a:prstGeom>
        </p:spPr>
        <p:txBody>
          <a:bodyPr anchor="t" rtlCol="false" tIns="0" lIns="0" bIns="0" rIns="0">
            <a:spAutoFit/>
          </a:bodyPr>
          <a:lstStyle/>
          <a:p>
            <a:pPr algn="l">
              <a:lnSpc>
                <a:spcPts val="3354"/>
              </a:lnSpc>
            </a:pPr>
            <a:r>
              <a:rPr lang="en-US" sz="2101" i="true">
                <a:solidFill>
                  <a:srgbClr val="E0E4E6"/>
                </a:solidFill>
                <a:latin typeface="Barlow Italics"/>
                <a:ea typeface="Barlow Italics"/>
                <a:cs typeface="Barlow Italics"/>
                <a:sym typeface="Barlow Italics"/>
              </a:rPr>
              <a:t>"Innovation begins with identifying simple problems and solving them effectively."</a:t>
            </a:r>
          </a:p>
        </p:txBody>
      </p:sp>
      <p:sp>
        <p:nvSpPr>
          <p:cNvPr name="TextBox 20" id="20"/>
          <p:cNvSpPr txBox="true"/>
          <p:nvPr/>
        </p:nvSpPr>
        <p:spPr>
          <a:xfrm rot="0">
            <a:off x="1102157" y="8589683"/>
            <a:ext cx="17012612" cy="517074"/>
          </a:xfrm>
          <a:prstGeom prst="rect">
            <a:avLst/>
          </a:prstGeom>
        </p:spPr>
        <p:txBody>
          <a:bodyPr anchor="t" rtlCol="false" tIns="0" lIns="0" bIns="0" rIns="0">
            <a:spAutoFit/>
          </a:bodyPr>
          <a:lstStyle/>
          <a:p>
            <a:pPr algn="l">
              <a:lnSpc>
                <a:spcPts val="3354"/>
              </a:lnSpc>
            </a:pPr>
            <a:r>
              <a:rPr lang="en-US" sz="2101" b="true">
                <a:solidFill>
                  <a:srgbClr val="E0E4E6"/>
                </a:solidFill>
                <a:latin typeface="Barlow Bold"/>
                <a:ea typeface="Barlow Bold"/>
                <a:cs typeface="Barlow Bold"/>
                <a:sym typeface="Barlow Bold"/>
              </a:rPr>
              <a:t>Thank You</a:t>
            </a:r>
            <a:r>
              <a:rPr lang="en-US" sz="2101">
                <a:solidFill>
                  <a:srgbClr val="E0E4E6"/>
                </a:solidFill>
                <a:latin typeface="Barlow"/>
                <a:ea typeface="Barlow"/>
                <a:cs typeface="Barlow"/>
                <a:sym typeface="Barlow"/>
              </a:rPr>
              <a:t> — Kushwanth P &amp; Likith M · Department of Electronics and Communication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DAHMddFrnUM</dc:identifier>
  <dcterms:modified xsi:type="dcterms:W3CDTF">2011-08-01T06:04:30Z</dcterms:modified>
  <cp:revision>1</cp:revision>
  <dc:title>Automatic-Water-Dispenser (1).pptx</dc:title>
</cp:coreProperties>
</file>